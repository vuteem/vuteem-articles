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Average"/>
      <p:regular r:id="rId56"/>
    </p:embeddedFont>
    <p:embeddedFont>
      <p:font typeface="Oswal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FA41D1-6C82-4D69-BB91-89F01CC65530}">
  <a:tblStyle styleId="{8EFA41D1-6C82-4D69-BB91-89F01CC655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57" Type="http://schemas.openxmlformats.org/officeDocument/2006/relationships/font" Target="fonts/Oswald-regular.fntdata"/><Relationship Id="rId12" Type="http://schemas.openxmlformats.org/officeDocument/2006/relationships/slide" Target="slides/slide6.xml"/><Relationship Id="rId56" Type="http://schemas.openxmlformats.org/officeDocument/2006/relationships/font" Target="fonts/Average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Oswa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afa830ed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0afa830ed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0afa830ed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0afa830ed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0080b36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60080b36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0afa830ed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0afa830ed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60080b3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60080b3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f4e92e19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f4e92e19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60080b36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60080b36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60080b36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60080b36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60080b36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60080b36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5f2ef1fc2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5f2ef1fc2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5f2ef1fc2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5f2ef1fc2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3e22101f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3e22101f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3e22101f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3e22101f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3e22101f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3e22101f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3e22101f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3e22101f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3e22101f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3e22101f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60080b36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60080b36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3e22101f1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3e22101f1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3e22101f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3e22101f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3e22101f1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3e22101f1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3e22101f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3e22101f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3e22101f1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3e22101f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3e22101f1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3e22101f1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3e22101f1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63e22101f1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3e22101f1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3e22101f1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3e22101f1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3e22101f1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3e22101f1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3e22101f1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3e22101f1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3e22101f1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3e22101f1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63e22101f1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3e22101f1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3e22101f1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3e22101f1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3e22101f1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3e22101f1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3e22101f1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3e22101f1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3e22101f1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3e22101f1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3e22101f1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3e22101f1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63e22101f1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3f2dfcb5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63f2dfcb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3f2dfcb5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3f2dfcb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3e22101f1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3e22101f1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3f2dfcb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63f2dfcb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3f2dfcb5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3f2dfcb5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3f2dfcb5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3f2dfcb5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3f2dfcb5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63f2dfcb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3e22101f1_1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3e22101f1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3f2dfcb5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63f2dfcb5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64600" y="4681000"/>
            <a:ext cx="89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0000" lnSpcReduction="10000"/>
          </a:bodyPr>
          <a:lstStyle>
            <a:lvl1pPr lvl="0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Approximation Algorithms for MaxWIST in Regular Graphs   											#</a:t>
            </a:r>
            <a:endParaRPr b="0" sz="3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GB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 b="0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Relationship Id="rId4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338800"/>
            <a:ext cx="7801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Approximation Algorithms for MaxWIST in d Regular Graphs</a:t>
            </a:r>
            <a:endParaRPr sz="3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667851"/>
            <a:ext cx="78015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9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GB" sz="15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Jahid Hasan - </a:t>
            </a:r>
            <a:r>
              <a:rPr lang="en-GB" sz="15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1024052109</a:t>
            </a:r>
            <a:r>
              <a:rPr lang="en-GB" sz="15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9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GB" sz="159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Abdul Wazed Rifat - 1024052031</a:t>
            </a:r>
            <a:endParaRPr sz="159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523"/>
              <a:buNone/>
            </a:pPr>
            <a:r>
              <a:t/>
            </a:r>
            <a:endParaRPr sz="159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921450" y="2447300"/>
            <a:ext cx="13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Group - 8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Paper Titled: 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Approximation algorithms for maximum weighted internal spanning trees in regular graphs and subdivisions of graphs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376600" y="2405688"/>
            <a:ext cx="85206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Published On: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Computer Journal, Volume 67, Issue 10, October 2024, Pages 2898–2905,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440200" y="3639188"/>
            <a:ext cx="8520600" cy="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Authors: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Sheikh Azizul Hakim , Rahnuma Islam Nishat , Md Saidur Rahman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522000" y="338200"/>
            <a:ext cx="387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Contents</a:t>
            </a:r>
            <a:endParaRPr b="1" sz="20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32550" y="799900"/>
            <a:ext cx="6778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Introduction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○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Problem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Definition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○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Computational Complexity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verage"/>
              <a:buChar char="○"/>
            </a:pP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Average"/>
                <a:ea typeface="Average"/>
                <a:cs typeface="Average"/>
                <a:sym typeface="Average"/>
              </a:rPr>
              <a:t>Prior Work &amp; Our Novel Contributions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○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Research motivation &amp; Application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D Regular Graphs &amp; Subdivision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○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Example with d=4 regular graph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regular graph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regular 4-subdivision graph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Hamiltonian graph 4-subdivision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4-subdivision hypohamiltonian graph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4-subdivision bi-connected outerplanar graph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4-subdivision 4-connected planar graph simulation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Experimental results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2633100" y="2325450"/>
            <a:ext cx="387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Introduction</a:t>
            </a:r>
            <a:endParaRPr b="1" sz="20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79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b="1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712175"/>
            <a:ext cx="830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0" y="1326275"/>
            <a:ext cx="90390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0" marR="762000" rtl="0" algn="ctr">
              <a:lnSpc>
                <a:spcPct val="1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chemeClr val="lt1"/>
                </a:solidFill>
              </a:rPr>
              <a:t>Given</a:t>
            </a:r>
            <a:r>
              <a:rPr lang="en-GB" sz="1350">
                <a:solidFill>
                  <a:srgbClr val="F093FB"/>
                </a:solidFill>
              </a:rPr>
              <a:t>:</a:t>
            </a:r>
            <a:r>
              <a:rPr lang="en-GB" sz="1350">
                <a:solidFill>
                  <a:srgbClr val="222222"/>
                </a:solidFill>
              </a:rPr>
              <a:t>  A vertex-weighted connected graph G = (V, E) with n vertices</a:t>
            </a:r>
            <a:endParaRPr sz="1350">
              <a:solidFill>
                <a:srgbClr val="222222"/>
              </a:solidFill>
            </a:endParaRPr>
          </a:p>
          <a:p>
            <a:pPr indent="0" lvl="0" marL="762000" marR="762000" rtl="0" algn="ctr">
              <a:lnSpc>
                <a:spcPct val="1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chemeClr val="lt1"/>
                </a:solidFill>
              </a:rPr>
              <a:t>Find</a:t>
            </a:r>
            <a:r>
              <a:rPr lang="en-GB" sz="1350">
                <a:solidFill>
                  <a:srgbClr val="F093FB"/>
                </a:solidFill>
              </a:rPr>
              <a:t>:</a:t>
            </a:r>
            <a:r>
              <a:rPr lang="en-GB" sz="1350">
                <a:solidFill>
                  <a:srgbClr val="222222"/>
                </a:solidFill>
              </a:rPr>
              <a:t> A spanning tree T of G that maximizes w(I(T))</a:t>
            </a:r>
            <a:endParaRPr sz="1350">
              <a:solidFill>
                <a:srgbClr val="222222"/>
              </a:solidFill>
            </a:endParaRPr>
          </a:p>
          <a:p>
            <a:pPr indent="0" lvl="0" marL="762000" marR="762000" rtl="0" algn="ctr">
              <a:lnSpc>
                <a:spcPct val="1800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b="1" lang="en-GB" sz="1350">
                <a:solidFill>
                  <a:schemeClr val="lt1"/>
                </a:solidFill>
              </a:rPr>
              <a:t>Where</a:t>
            </a:r>
            <a:r>
              <a:rPr lang="en-GB" sz="1350">
                <a:solidFill>
                  <a:srgbClr val="F093FB"/>
                </a:solidFill>
              </a:rPr>
              <a:t>:</a:t>
            </a:r>
            <a:r>
              <a:rPr lang="en-GB" sz="1350">
                <a:solidFill>
                  <a:srgbClr val="222222"/>
                </a:solidFill>
              </a:rPr>
              <a:t> I(T) = internal vertices of T (degree ≥ 2), w(I(T)) = sum of weights of internal vertices</a:t>
            </a:r>
            <a:endParaRPr sz="135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179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6" name="Google Shape;96;p18" title="Screenshot 2025-08-29 at 17.18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775" y="924338"/>
            <a:ext cx="2298099" cy="18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5167725" y="1399175"/>
            <a:ext cx="17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Graph G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98" name="Google Shape;98;p18"/>
          <p:cNvGrpSpPr/>
          <p:nvPr/>
        </p:nvGrpSpPr>
        <p:grpSpPr>
          <a:xfrm>
            <a:off x="1302975" y="2922162"/>
            <a:ext cx="6041475" cy="1975536"/>
            <a:chOff x="1245525" y="2972462"/>
            <a:chExt cx="6041475" cy="1975536"/>
          </a:xfrm>
        </p:grpSpPr>
        <p:sp>
          <p:nvSpPr>
            <p:cNvPr id="99" name="Google Shape;99;p18"/>
            <p:cNvSpPr/>
            <p:nvPr/>
          </p:nvSpPr>
          <p:spPr>
            <a:xfrm>
              <a:off x="1245600" y="2972462"/>
              <a:ext cx="6041400" cy="197553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verage"/>
                <a:ea typeface="Average"/>
                <a:cs typeface="Average"/>
                <a:sym typeface="Average"/>
              </a:endParaRPr>
            </a:p>
          </p:txBody>
        </p:sp>
        <p:pic>
          <p:nvPicPr>
            <p:cNvPr id="100" name="Google Shape;100;p18" title="Screenshot 2025-08-29 at 17.18.45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69563" y="3188581"/>
              <a:ext cx="1259275" cy="132622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1" name="Google Shape;101;p18" title="Screenshot 2025-08-29 at 17.18.59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39988" y="3214744"/>
              <a:ext cx="1208375" cy="124231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2" name="Google Shape;102;p18" title="Screenshot 2025-08-29 at 17.19.14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62100" y="3188586"/>
              <a:ext cx="1208380" cy="129463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3" name="Google Shape;103;p18"/>
            <p:cNvSpPr txBox="1"/>
            <p:nvPr/>
          </p:nvSpPr>
          <p:spPr>
            <a:xfrm>
              <a:off x="1245525" y="4514800"/>
              <a:ext cx="6041400" cy="369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Average"/>
                  <a:ea typeface="Average"/>
                  <a:cs typeface="Average"/>
                  <a:sym typeface="Average"/>
                </a:rPr>
                <a:t>Spanning Tree, Subgraph of G</a:t>
              </a:r>
              <a:endParaRPr sz="12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0" y="0"/>
            <a:ext cx="59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</a:rPr>
              <a:t> Computational Complexity &amp; Challenges</a:t>
            </a:r>
            <a:endParaRPr b="1" sz="2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134325" y="945000"/>
            <a:ext cx="56715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C3545"/>
                </a:solidFill>
                <a:highlight>
                  <a:srgbClr val="F8F9FA"/>
                </a:highlight>
              </a:rPr>
              <a:t>NP-Complete Problem</a:t>
            </a:r>
            <a:endParaRPr b="1" sz="1200">
              <a:solidFill>
                <a:srgbClr val="DC3545"/>
              </a:solidFill>
              <a:highlight>
                <a:srgbClr val="F8F9FA"/>
              </a:highlight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050"/>
              <a:buChar char="●"/>
            </a:pPr>
            <a:r>
              <a:rPr b="1" lang="en-GB" sz="1050">
                <a:solidFill>
                  <a:srgbClr val="222222"/>
                </a:solidFill>
                <a:highlight>
                  <a:srgbClr val="F8F9FA"/>
                </a:highlight>
              </a:rPr>
              <a:t>General MaxWIST:</a:t>
            </a:r>
            <a:r>
              <a:rPr lang="en-GB" sz="1050">
                <a:solidFill>
                  <a:srgbClr val="222222"/>
                </a:solidFill>
                <a:highlight>
                  <a:srgbClr val="F8F9FA"/>
                </a:highlight>
              </a:rPr>
              <a:t> Proven NP-complete</a:t>
            </a:r>
            <a:endParaRPr sz="1050">
              <a:solidFill>
                <a:srgbClr val="222222"/>
              </a:solidFill>
              <a:highlight>
                <a:srgbClr val="F8F9FA"/>
              </a:highlight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Char char="●"/>
            </a:pPr>
            <a:r>
              <a:rPr b="1" lang="en-GB" sz="1050">
                <a:solidFill>
                  <a:srgbClr val="222222"/>
                </a:solidFill>
                <a:highlight>
                  <a:srgbClr val="F8F9FA"/>
                </a:highlight>
              </a:rPr>
              <a:t>Implication:</a:t>
            </a:r>
            <a:r>
              <a:rPr lang="en-GB" sz="1050">
                <a:solidFill>
                  <a:srgbClr val="222222"/>
                </a:solidFill>
                <a:highlight>
                  <a:srgbClr val="F8F9FA"/>
                </a:highlight>
              </a:rPr>
              <a:t> No polynomial-time exact algorithm exists (unless P = NP)</a:t>
            </a:r>
            <a:endParaRPr sz="1050">
              <a:solidFill>
                <a:srgbClr val="222222"/>
              </a:solidFill>
              <a:highlight>
                <a:srgbClr val="F8F9FA"/>
              </a:highlight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134325" y="2936000"/>
            <a:ext cx="51663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667EEA"/>
                </a:solidFill>
              </a:rPr>
              <a:t>Comparison with Classical MST</a:t>
            </a:r>
            <a:endParaRPr b="1" sz="1200">
              <a:solidFill>
                <a:srgbClr val="667EE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67EEA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en-GB" sz="1050">
                <a:solidFill>
                  <a:srgbClr val="222222"/>
                </a:solidFill>
              </a:rPr>
              <a:t>Minimum Spanning Tree (MST)  - </a:t>
            </a:r>
            <a:r>
              <a:rPr b="1" lang="en-GB" sz="900">
                <a:solidFill>
                  <a:srgbClr val="FFFFFF"/>
                </a:solidFill>
                <a:highlight>
                  <a:srgbClr val="28A745"/>
                </a:highlight>
              </a:rPr>
              <a:t>Polynomial </a:t>
            </a:r>
            <a:r>
              <a:rPr lang="en-GB" sz="1000">
                <a:solidFill>
                  <a:srgbClr val="764BA2"/>
                </a:solidFill>
              </a:rPr>
              <a:t> -</a:t>
            </a:r>
            <a:r>
              <a:rPr lang="en-GB" sz="1000">
                <a:solidFill>
                  <a:srgbClr val="764BA2"/>
                </a:solidFill>
              </a:rPr>
              <a:t>   Kruskal, Prim - O(E log V)</a:t>
            </a:r>
            <a:endParaRPr sz="1000">
              <a:solidFill>
                <a:srgbClr val="764BA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050">
                <a:solidFill>
                  <a:srgbClr val="222222"/>
                </a:solidFill>
              </a:rPr>
              <a:t>Maximum Weighted Internal ST -  </a:t>
            </a:r>
            <a:r>
              <a:rPr b="1" lang="en-GB" sz="900">
                <a:solidFill>
                  <a:srgbClr val="FFFFFF"/>
                </a:solidFill>
                <a:highlight>
                  <a:srgbClr val="DC3545"/>
                </a:highlight>
              </a:rPr>
              <a:t>NP-Complete </a:t>
            </a:r>
            <a:r>
              <a:rPr lang="en-GB" sz="1000">
                <a:solidFill>
                  <a:srgbClr val="764BA2"/>
                </a:solidFill>
              </a:rPr>
              <a:t> -</a:t>
            </a:r>
            <a:r>
              <a:rPr lang="en-GB" sz="1000">
                <a:solidFill>
                  <a:srgbClr val="764BA2"/>
                </a:solidFill>
              </a:rPr>
              <a:t> Approximation algorithms needed</a:t>
            </a:r>
            <a:endParaRPr sz="1000">
              <a:solidFill>
                <a:srgbClr val="764BA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0" y="0"/>
            <a:ext cx="554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GB" sz="2000">
                <a:solidFill>
                  <a:srgbClr val="222222"/>
                </a:solidFill>
                <a:highlight>
                  <a:srgbClr val="FFFFFF"/>
                </a:highlight>
              </a:rPr>
              <a:t>Prior Work &amp; Our Novel Contributions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40400" y="5722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GB" sz="1300">
                <a:solidFill>
                  <a:srgbClr val="667EEA"/>
                </a:solidFill>
                <a:highlight>
                  <a:srgbClr val="FFFFFF"/>
                </a:highlight>
              </a:rPr>
              <a:t>Evolution of MaxwIST Research</a:t>
            </a:r>
            <a:endParaRPr b="1" sz="1300">
              <a:solidFill>
                <a:srgbClr val="667EEA"/>
              </a:solidFill>
              <a:highlight>
                <a:srgbClr val="FFFFFF"/>
              </a:highlight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0400" y="1285875"/>
            <a:ext cx="2850300" cy="27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667EEA"/>
                </a:solidFill>
                <a:highlight>
                  <a:srgbClr val="F8F9FA"/>
                </a:highlight>
              </a:rPr>
              <a:t>2004</a:t>
            </a:r>
            <a:endParaRPr b="1" sz="1200">
              <a:solidFill>
                <a:srgbClr val="667EEA"/>
              </a:solidFill>
              <a:highlight>
                <a:srgbClr val="F8F9FA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  <a:highlight>
                  <a:srgbClr val="F8F9FA"/>
                </a:highlight>
              </a:rPr>
              <a:t>Salamon &amp; Weiner</a:t>
            </a:r>
            <a:endParaRPr sz="1050">
              <a:solidFill>
                <a:srgbClr val="764BA2"/>
              </a:solidFill>
              <a:highlight>
                <a:srgbClr val="F8F9FA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8F9FA"/>
                </a:highlight>
              </a:rPr>
              <a:t>Result:</a:t>
            </a:r>
            <a:r>
              <a:rPr lang="en-GB" sz="1000">
                <a:solidFill>
                  <a:srgbClr val="222222"/>
                </a:solidFill>
                <a:highlight>
                  <a:srgbClr val="F8F9FA"/>
                </a:highlight>
              </a:rPr>
              <a:t> 5/6-approximation for MaxIST in cubic graphs</a:t>
            </a:r>
            <a:endParaRPr sz="1000">
              <a:solidFill>
                <a:srgbClr val="222222"/>
              </a:solidFill>
              <a:highlight>
                <a:srgbClr val="F8F9FA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8F9FA"/>
                </a:highlight>
              </a:rPr>
              <a:t>Method:</a:t>
            </a:r>
            <a:r>
              <a:rPr lang="en-GB" sz="1000">
                <a:solidFill>
                  <a:srgbClr val="222222"/>
                </a:solidFill>
                <a:highlight>
                  <a:srgbClr val="F8F9FA"/>
                </a:highlight>
              </a:rPr>
              <a:t> Unweighted case analysis using LP relaxation</a:t>
            </a:r>
            <a:endParaRPr sz="1000">
              <a:solidFill>
                <a:srgbClr val="222222"/>
              </a:solidFill>
              <a:highlight>
                <a:srgbClr val="F8F9FA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8F9FA"/>
                </a:highlight>
              </a:rPr>
              <a:t>Limitation:</a:t>
            </a:r>
            <a:r>
              <a:rPr lang="en-GB" sz="1000">
                <a:solidFill>
                  <a:srgbClr val="222222"/>
                </a:solidFill>
                <a:highlight>
                  <a:srgbClr val="F8F9FA"/>
                </a:highlight>
              </a:rPr>
              <a:t> Restricted to degree-3 graphs only</a:t>
            </a:r>
            <a:endParaRPr sz="1000">
              <a:solidFill>
                <a:srgbClr val="222222"/>
              </a:solidFill>
              <a:highlight>
                <a:srgbClr val="F8F9FA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50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8F9FA"/>
                </a:highlight>
              </a:rPr>
              <a:t>Impact:</a:t>
            </a:r>
            <a:r>
              <a:rPr lang="en-GB" sz="1000">
                <a:solidFill>
                  <a:srgbClr val="222222"/>
                </a:solidFill>
                <a:highlight>
                  <a:srgbClr val="F8F9FA"/>
                </a:highlight>
              </a:rPr>
              <a:t> First theoretical breakthrough for this problem</a:t>
            </a:r>
            <a:endParaRPr sz="1000">
              <a:solidFill>
                <a:srgbClr val="222222"/>
              </a:solidFill>
              <a:highlight>
                <a:srgbClr val="F8F9FA"/>
              </a:highlight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072000" y="1245475"/>
            <a:ext cx="3000000" cy="27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667EEA"/>
                </a:solidFill>
              </a:rPr>
              <a:t>2018</a:t>
            </a:r>
            <a:endParaRPr b="1" sz="120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</a:rPr>
              <a:t>Biniaz</a:t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</a:rPr>
              <a:t>Result:</a:t>
            </a:r>
            <a:r>
              <a:rPr lang="en-GB" sz="1000">
                <a:solidFill>
                  <a:srgbClr val="222222"/>
                </a:solidFill>
              </a:rPr>
              <a:t> 3/4-approximation for MaxwIST in cubic graphs</a:t>
            </a:r>
            <a:endParaRPr sz="1000">
              <a:solidFill>
                <a:srgbClr val="222222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</a:rPr>
              <a:t>Method:</a:t>
            </a:r>
            <a:r>
              <a:rPr lang="en-GB" sz="1000">
                <a:solidFill>
                  <a:srgbClr val="222222"/>
                </a:solidFill>
              </a:rPr>
              <a:t> Extended to weighted vertices with novel techniques</a:t>
            </a:r>
            <a:endParaRPr sz="1000">
              <a:solidFill>
                <a:srgbClr val="222222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</a:rPr>
              <a:t>Innovation:</a:t>
            </a:r>
            <a:r>
              <a:rPr lang="en-GB" sz="1000">
                <a:solidFill>
                  <a:srgbClr val="222222"/>
                </a:solidFill>
              </a:rPr>
              <a:t> Bridged unweighted to weighted case</a:t>
            </a:r>
            <a:endParaRPr sz="1000">
              <a:solidFill>
                <a:srgbClr val="222222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500"/>
              </a:spcAft>
              <a:buNone/>
            </a:pPr>
            <a:r>
              <a:rPr b="1" lang="en-GB" sz="1000">
                <a:solidFill>
                  <a:srgbClr val="222222"/>
                </a:solidFill>
              </a:rPr>
              <a:t>Gap:</a:t>
            </a:r>
            <a:r>
              <a:rPr lang="en-GB" sz="1000">
                <a:solidFill>
                  <a:srgbClr val="222222"/>
                </a:solidFill>
              </a:rPr>
              <a:t> Still limited to cubic graphs (d=3)</a:t>
            </a:r>
            <a:endParaRPr sz="1000">
              <a:solidFill>
                <a:srgbClr val="22222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6072000" y="1178175"/>
            <a:ext cx="3000000" cy="30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8761D"/>
                </a:solidFill>
                <a:highlight>
                  <a:srgbClr val="FFFFFF"/>
                </a:highlight>
              </a:rPr>
              <a:t>2024</a:t>
            </a:r>
            <a:endParaRPr b="1" sz="1200">
              <a:solidFill>
                <a:srgbClr val="38761D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667EEA"/>
                </a:solidFill>
                <a:highlight>
                  <a:srgbClr val="FFFFFF"/>
                </a:highlight>
              </a:rPr>
              <a:t>Hakim, Nishat &amp; Rahman</a:t>
            </a:r>
            <a:endParaRPr sz="105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Result: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Generalized approximation for arbitrary d-regular graphs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Method: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Novel algorithmic framework with subdivision analysis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Breakthrough: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First solution for general d-regular graphs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500"/>
              </a:spcAft>
              <a:buNone/>
            </a:pPr>
            <a:r>
              <a:rPr b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Achievement: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 Polynomial-time algorithms with practical performance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0" y="896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GB" sz="1200">
                <a:solidFill>
                  <a:srgbClr val="222222"/>
                </a:solidFill>
                <a:highlight>
                  <a:srgbClr val="FFFFFF"/>
                </a:highlight>
              </a:rPr>
              <a:t> Our Key Contributions</a:t>
            </a:r>
            <a:endParaRPr b="1" sz="12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121175" y="1050225"/>
            <a:ext cx="38535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667EEA"/>
                </a:solidFill>
              </a:rPr>
              <a:t>1. Generalized Framework</a:t>
            </a:r>
            <a:endParaRPr b="1" sz="11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</a:rPr>
              <a:t>Extended approximation algorithms from cubic graphs to arbitrary d-regular graphs</a:t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2C3E50"/>
              </a:solidFill>
              <a:highlight>
                <a:srgbClr val="E9EC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092175" y="1050225"/>
            <a:ext cx="37581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667EEA"/>
                </a:solidFill>
              </a:rPr>
              <a:t>2. Subdivision Analysis</a:t>
            </a:r>
            <a:endParaRPr b="1" sz="11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</a:rPr>
              <a:t>Novel algorithms for x-subdivisions of various graph classes</a:t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2C3E50"/>
              </a:solidFill>
              <a:highlight>
                <a:srgbClr val="E9EC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235625" y="2995900"/>
            <a:ext cx="34359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667EEA"/>
                </a:solidFill>
              </a:rPr>
              <a:t>3. Special Graph Classes</a:t>
            </a:r>
            <a:endParaRPr b="1" sz="11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</a:rPr>
              <a:t>Near-optimal results for Hamiltonian, outerplanar, and hypoHamiltonian graphs</a:t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2C3E50"/>
              </a:solidFill>
              <a:highlight>
                <a:srgbClr val="E9EC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132575" y="3167950"/>
            <a:ext cx="37179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667EEA"/>
                </a:solidFill>
              </a:rPr>
              <a:t>Efficient Implementation</a:t>
            </a:r>
            <a:endParaRPr b="1" sz="11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764BA2"/>
                </a:solidFill>
              </a:rPr>
              <a:t>Polynomial Time </a:t>
            </a:r>
            <a:r>
              <a:rPr lang="en-GB" sz="1050">
                <a:solidFill>
                  <a:srgbClr val="764BA2"/>
                </a:solidFill>
              </a:rPr>
              <a:t>O(dn) algorithms with practical performance</a:t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764BA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2C3E50"/>
              </a:solidFill>
              <a:highlight>
                <a:srgbClr val="E9EC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9" name="Google Shape;129;p21" title="Screenshot 2025-08-09 at 15.48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75" y="2069360"/>
            <a:ext cx="3360476" cy="4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 title="Screenshot 2025-08-09 at 15.48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675" y="2074938"/>
            <a:ext cx="3456725" cy="444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 title="Screenshot 2025-08-09 at 15.49.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50" y="4135063"/>
            <a:ext cx="3581374" cy="48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 title="Screenshot 2025-08-09 at 15.49.0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5925" y="4167350"/>
            <a:ext cx="3332251" cy="4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4323500" y="4148200"/>
            <a:ext cx="387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0" y="0"/>
            <a:ext cx="5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GB" sz="1200">
                <a:solidFill>
                  <a:srgbClr val="222222"/>
                </a:solidFill>
                <a:highlight>
                  <a:srgbClr val="FFFFFF"/>
                </a:highlight>
              </a:rPr>
              <a:t> Research Motivation &amp; Real-World Applications</a:t>
            </a:r>
            <a:endParaRPr b="1" sz="12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0" y="833425"/>
            <a:ext cx="3000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Bridging Classical Problems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64BA2"/>
                </a:solidFill>
              </a:rPr>
              <a:t>Connects traditional spanning tree optimization with modern vertex-centric graph analysis</a:t>
            </a:r>
            <a:endParaRPr sz="1000">
              <a:solidFill>
                <a:srgbClr val="764BA2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072000" y="833425"/>
            <a:ext cx="3000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Approximation Theory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64BA2"/>
                </a:solidFill>
              </a:rPr>
              <a:t>Advances techniques for handling NP-hard optimization problems in graph theory</a:t>
            </a:r>
            <a:endParaRPr sz="1000">
              <a:solidFill>
                <a:srgbClr val="764BA2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5978625" y="833425"/>
            <a:ext cx="30000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Algorithmic Innovation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64BA2"/>
                </a:solidFill>
              </a:rPr>
              <a:t>Develops new frameworks applicable to broader classes of graph optimization problems</a:t>
            </a:r>
            <a:endParaRPr sz="1000">
              <a:solidFill>
                <a:srgbClr val="764BA2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57200" y="2296225"/>
            <a:ext cx="27756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Communication Networks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222222"/>
                </a:solidFill>
              </a:rPr>
              <a:t>Maximize capacity at hub routers while ensuring all nodes remain connected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5868075" y="2296225"/>
            <a:ext cx="28338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VLSI Circuit Layout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222222"/>
                </a:solidFill>
              </a:rPr>
              <a:t>Minimize leaf components while maximizing internal processing units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5936150" y="3503875"/>
            <a:ext cx="28338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Social Network Analysis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222222"/>
                </a:solidFill>
              </a:rPr>
              <a:t>Identify influential users who bridge different communities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328100" y="3554850"/>
            <a:ext cx="28338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667EEA"/>
                </a:solidFill>
              </a:rPr>
              <a:t>Database Systems</a:t>
            </a:r>
            <a:endParaRPr b="1" sz="1050">
              <a:solidFill>
                <a:srgbClr val="667EE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222222"/>
                </a:solidFill>
              </a:rPr>
              <a:t>Optimize query processing trees by emphasizing internal join operations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34025" y="238125"/>
            <a:ext cx="864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d-REGULAR GRAPHS AND THEIR SUBDIVISIONS</a:t>
            </a:r>
            <a:endParaRPr sz="2000"/>
          </a:p>
        </p:txBody>
      </p:sp>
      <p:sp>
        <p:nvSpPr>
          <p:cNvPr id="151" name="Google Shape;151;p23"/>
          <p:cNvSpPr txBox="1"/>
          <p:nvPr/>
        </p:nvSpPr>
        <p:spPr>
          <a:xfrm>
            <a:off x="498300" y="1976425"/>
            <a:ext cx="864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52" name="Google Shape;152;p23"/>
          <p:cNvSpPr txBox="1"/>
          <p:nvPr/>
        </p:nvSpPr>
        <p:spPr>
          <a:xfrm>
            <a:off x="277150" y="3664775"/>
            <a:ext cx="64968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Verdana"/>
                <a:ea typeface="Verdana"/>
                <a:cs typeface="Verdana"/>
                <a:sym typeface="Verdana"/>
              </a:rPr>
              <a:t>Theorem 3.1</a:t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Statement: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For every d ≥ 3 and n₀ ≥ 1, there exists a d-regular graph of at least n₀ vertices, such that for any of its spanning trees, w(I)/w(V) ≤ d/(d+1).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3" name="Google Shape;153;p23" title="Screenshot 2025-08-09 at 16.55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50" y="1245713"/>
            <a:ext cx="2065251" cy="184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 title="Screenshot 2025-08-09 at 16.55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9150" y="1299225"/>
            <a:ext cx="6622802" cy="19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186625" y="210777"/>
            <a:ext cx="53100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latin typeface="Verdana"/>
                <a:ea typeface="Verdana"/>
                <a:cs typeface="Verdana"/>
                <a:sym typeface="Verdana"/>
              </a:rPr>
              <a:t>Step 1: Understanding the Construction (d=4, Even Case)</a:t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0" name="Google Shape;160;p24" title="Screenshot 2025-08-08 at 22.10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625" y="799375"/>
            <a:ext cx="3095920" cy="32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445675" y="1298013"/>
            <a:ext cx="47919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00">
                <a:latin typeface="Verdana"/>
                <a:ea typeface="Verdana"/>
                <a:cs typeface="Verdana"/>
                <a:sym typeface="Verdana"/>
              </a:rPr>
              <a:t>Step 1.1: Build the Gadget Φ</a:t>
            </a:r>
            <a:endParaRPr b="1"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Vertices: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{a₀, a₁, a₂, a₃, a₄} ∪ {f}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Total vertices in gadget: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6 vertices</a:t>
            </a:r>
            <a:endParaRPr b="1"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45675" y="2895240"/>
            <a:ext cx="4791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Verdana"/>
                <a:ea typeface="Verdana"/>
                <a:cs typeface="Verdana"/>
                <a:sym typeface="Verdana"/>
              </a:rPr>
              <a:t>Step 1.2: Initial Edge Construction</a:t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Complete graph edges between aᵢ vertices: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highlight>
                  <a:srgbClr val="E8F5E8"/>
                </a:highlight>
                <a:latin typeface="Courier New"/>
                <a:ea typeface="Courier New"/>
                <a:cs typeface="Courier New"/>
                <a:sym typeface="Courier New"/>
              </a:rPr>
              <a:t>(a₀,a₁), (a₀,a₂), (a₀,a₃), (a₀,a₄)</a:t>
            </a:r>
            <a:endParaRPr sz="1100">
              <a:highlight>
                <a:srgbClr val="E8F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highlight>
                  <a:srgbClr val="E8F5E8"/>
                </a:highlight>
                <a:latin typeface="Courier New"/>
                <a:ea typeface="Courier New"/>
                <a:cs typeface="Courier New"/>
                <a:sym typeface="Courier New"/>
              </a:rPr>
              <a:t>(a₁,a₂), (a₁,a₃), (a₁,a₄)</a:t>
            </a:r>
            <a:endParaRPr sz="1100">
              <a:highlight>
                <a:srgbClr val="E8F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highlight>
                  <a:srgbClr val="E8F5E8"/>
                </a:highlight>
                <a:latin typeface="Courier New"/>
                <a:ea typeface="Courier New"/>
                <a:cs typeface="Courier New"/>
                <a:sym typeface="Courier New"/>
              </a:rPr>
              <a:t>(a₂,a₃), (a₂,a₄)</a:t>
            </a:r>
            <a:endParaRPr sz="1100">
              <a:highlight>
                <a:srgbClr val="E8F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highlight>
                  <a:srgbClr val="E8F5E8"/>
                </a:highlight>
                <a:latin typeface="Courier New"/>
                <a:ea typeface="Courier New"/>
                <a:cs typeface="Courier New"/>
                <a:sym typeface="Courier New"/>
              </a:rPr>
              <a:t>(a₃,a₄)</a:t>
            </a:r>
            <a:endParaRPr sz="1100">
              <a:highlight>
                <a:srgbClr val="E8F5E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latin typeface="Courier New"/>
                <a:ea typeface="Courier New"/>
                <a:cs typeface="Courier New"/>
                <a:sym typeface="Courier New"/>
              </a:rPr>
              <a:t>Edges from f to aₖ (k ≥ 3):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100">
                <a:highlight>
                  <a:srgbClr val="E8F5E8"/>
                </a:highlight>
                <a:latin typeface="Courier New"/>
                <a:ea typeface="Courier New"/>
                <a:cs typeface="Courier New"/>
                <a:sym typeface="Courier New"/>
              </a:rPr>
              <a:t>(f,a₃), (f,a₄)</a:t>
            </a:r>
            <a:endParaRPr b="1" sz="1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332025" y="1645400"/>
            <a:ext cx="53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25" title="Screenshot 2025-08-08 at 22.10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000" y="753000"/>
            <a:ext cx="3113250" cy="331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5"/>
          <p:cNvGraphicFramePr/>
          <p:nvPr/>
        </p:nvGraphicFramePr>
        <p:xfrm>
          <a:off x="0" y="3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{8EFA41D1-6C82-4D69-BB91-89F01CC65530}</a:tableStyleId>
              </a:tblPr>
              <a:tblGrid>
                <a:gridCol w="1025150"/>
                <a:gridCol w="1087550"/>
                <a:gridCol w="1016250"/>
                <a:gridCol w="1560025"/>
              </a:tblGrid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Vertex</a:t>
                      </a:r>
                      <a:endParaRPr b="1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Degree</a:t>
                      </a:r>
                      <a:endParaRPr b="1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Target</a:t>
                      </a:r>
                      <a:endParaRPr b="1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Status</a:t>
                      </a:r>
                      <a:endParaRPr b="1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a₀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Complete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a₁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Complete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a₂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Complete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a₃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4+1=5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❌ Excess +1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a₄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+1=5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❌ Excess +1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❌ Need +2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/>
        </p:nvSpPr>
        <p:spPr>
          <a:xfrm>
            <a:off x="332025" y="1645400"/>
            <a:ext cx="53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96000" y="1504500"/>
            <a:ext cx="4804200" cy="2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latin typeface="Verdana"/>
                <a:ea typeface="Verdana"/>
                <a:cs typeface="Verdana"/>
                <a:sym typeface="Verdana"/>
              </a:rPr>
              <a:t>Step 1.3: Edge Removal to Fix Degrees</a:t>
            </a:r>
            <a:endParaRPr b="1"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Problem: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a₃ &amp; 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a₄ 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has degree 5, but we need degree 4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Solution:</a:t>
            </a:r>
            <a:r>
              <a:rPr lang="en-GB" sz="1100">
                <a:latin typeface="Verdana"/>
                <a:ea typeface="Verdana"/>
                <a:cs typeface="Verdana"/>
                <a:sym typeface="Verdana"/>
              </a:rPr>
              <a:t> Remove edge (a₃,a₄) from the cycle a₃,a₄,a₃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Verdana"/>
                <a:ea typeface="Verdana"/>
                <a:cs typeface="Verdana"/>
                <a:sym typeface="Verdana"/>
              </a:rPr>
              <a:t>Since d=4 is even, we remove edges where i is odd and j=i+1</a:t>
            </a:r>
            <a:endParaRPr b="1" sz="11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6" name="Google Shape;176;p26" title="Screenshot 2025-08-08 at 22.26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200" y="965079"/>
            <a:ext cx="3197175" cy="321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/>
        </p:nvSpPr>
        <p:spPr>
          <a:xfrm>
            <a:off x="332025" y="1645400"/>
            <a:ext cx="53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2" name="Google Shape;182;p27" title="Screenshot 2025-08-08 at 22.26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650" y="857238"/>
            <a:ext cx="3197175" cy="32133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7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{8EFA41D1-6C82-4D69-BB91-89F01CC65530}</a:tableStyleId>
              </a:tblPr>
              <a:tblGrid>
                <a:gridCol w="809625"/>
                <a:gridCol w="1304925"/>
                <a:gridCol w="2886075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Vertex</a:t>
                      </a:r>
                      <a:endParaRPr b="1" sz="11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Final Degree</a:t>
                      </a:r>
                      <a:endParaRPr b="1" sz="11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Status</a:t>
                      </a:r>
                      <a:endParaRPr b="1" sz="11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a₀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Perfect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a₁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Perfect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a₂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Perfect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a₃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Perfect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a₄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✓ Perfect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❌ Needs 2 more (has "two hands")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332025" y="1645400"/>
            <a:ext cx="531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180850" y="434050"/>
            <a:ext cx="6423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2300"/>
              </a:spcBef>
              <a:spcAft>
                <a:spcPts val="400"/>
              </a:spcAft>
              <a:buNone/>
            </a:pPr>
            <a:r>
              <a:rPr b="1" lang="en-GB" sz="1700">
                <a:solidFill>
                  <a:srgbClr val="34495E"/>
                </a:solidFill>
                <a:latin typeface="Verdana"/>
                <a:ea typeface="Verdana"/>
                <a:cs typeface="Verdana"/>
                <a:sym typeface="Verdana"/>
              </a:rPr>
              <a:t>Step 2: Building the Frame Graph G₄ (Detailed Breakdown)</a:t>
            </a:r>
            <a:endParaRPr b="1" sz="1700">
              <a:solidFill>
                <a:srgbClr val="34495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447538" y="1431050"/>
            <a:ext cx="41925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900">
                <a:latin typeface="Verdana"/>
                <a:ea typeface="Verdana"/>
                <a:cs typeface="Verdana"/>
                <a:sym typeface="Verdana"/>
              </a:rPr>
              <a:t>Step 2.1: Start with Two Simple Path Graph</a:t>
            </a:r>
            <a:r>
              <a:rPr b="1" lang="en-GB" sz="1900">
                <a:latin typeface="Verdana"/>
                <a:ea typeface="Verdana"/>
                <a:cs typeface="Verdana"/>
                <a:sym typeface="Verdana"/>
              </a:rPr>
              <a:t>s</a:t>
            </a:r>
            <a:endParaRPr b="1" sz="1200">
              <a:solidFill>
                <a:srgbClr val="FFFFFF"/>
              </a:solidFill>
              <a:highlight>
                <a:srgbClr val="95A5A6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1" name="Google Shape;191;p28" title="Screenshot 2025-08-08 at 22.30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0" y="2494350"/>
            <a:ext cx="4006274" cy="2380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8"/>
          <p:cNvGraphicFramePr/>
          <p:nvPr/>
        </p:nvGraphicFramePr>
        <p:xfrm>
          <a:off x="4063875" y="118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{8EFA41D1-6C82-4D69-BB91-89F01CC65530}</a:tableStyleId>
              </a:tblPr>
              <a:tblGrid>
                <a:gridCol w="1634975"/>
                <a:gridCol w="982175"/>
                <a:gridCol w="846600"/>
                <a:gridCol w="1546400"/>
              </a:tblGrid>
              <a:tr h="9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Vertex Type</a:t>
                      </a:r>
                      <a:endParaRPr b="1" sz="12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Degree</a:t>
                      </a:r>
                      <a:endParaRPr b="1" sz="12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Target Degree</a:t>
                      </a:r>
                      <a:endParaRPr b="1" sz="12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Additional Connections Needed</a:t>
                      </a:r>
                      <a:endParaRPr b="1" sz="12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Endpoints (g₀, g₃, h₀, h₃)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 more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Internal (g₁, g₂, h₁, h₂)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-GB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 more</a:t>
                      </a:r>
                      <a:endParaRPr b="1" sz="12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14300" marB="114300" marR="114300" marL="114300">
                    <a:lnL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/>
        </p:nvSpPr>
        <p:spPr>
          <a:xfrm>
            <a:off x="958750" y="2780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3740775" y="3024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5555700" y="3024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6957800" y="3094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1003725" y="20870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3757350" y="20870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5555950" y="20852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6973238" y="2087000"/>
            <a:ext cx="763200" cy="76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05" name="Google Shape;205;p29"/>
          <p:cNvCxnSpPr>
            <a:stCxn id="201" idx="6"/>
            <a:endCxn id="202" idx="2"/>
          </p:cNvCxnSpPr>
          <p:nvPr/>
        </p:nvCxnSpPr>
        <p:spPr>
          <a:xfrm>
            <a:off x="1766925" y="2468600"/>
            <a:ext cx="199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9"/>
          <p:cNvCxnSpPr>
            <a:stCxn id="202" idx="6"/>
            <a:endCxn id="203" idx="2"/>
          </p:cNvCxnSpPr>
          <p:nvPr/>
        </p:nvCxnSpPr>
        <p:spPr>
          <a:xfrm flipH="1" rot="10800000">
            <a:off x="4520550" y="2466800"/>
            <a:ext cx="10353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9"/>
          <p:cNvCxnSpPr>
            <a:stCxn id="203" idx="6"/>
            <a:endCxn id="204" idx="2"/>
          </p:cNvCxnSpPr>
          <p:nvPr/>
        </p:nvCxnSpPr>
        <p:spPr>
          <a:xfrm>
            <a:off x="6319150" y="2466800"/>
            <a:ext cx="6540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9"/>
          <p:cNvCxnSpPr>
            <a:stCxn id="199" idx="6"/>
            <a:endCxn id="200" idx="2"/>
          </p:cNvCxnSpPr>
          <p:nvPr/>
        </p:nvCxnSpPr>
        <p:spPr>
          <a:xfrm>
            <a:off x="6318900" y="684000"/>
            <a:ext cx="639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9"/>
          <p:cNvCxnSpPr>
            <a:stCxn id="198" idx="6"/>
            <a:endCxn id="199" idx="2"/>
          </p:cNvCxnSpPr>
          <p:nvPr/>
        </p:nvCxnSpPr>
        <p:spPr>
          <a:xfrm>
            <a:off x="4503975" y="684000"/>
            <a:ext cx="105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9"/>
          <p:cNvCxnSpPr>
            <a:stCxn id="197" idx="6"/>
            <a:endCxn id="198" idx="2"/>
          </p:cNvCxnSpPr>
          <p:nvPr/>
        </p:nvCxnSpPr>
        <p:spPr>
          <a:xfrm>
            <a:off x="1721950" y="659600"/>
            <a:ext cx="20187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1" name="Google Shape;211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956176" y="1163047"/>
            <a:ext cx="884700" cy="907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9"/>
          <p:cNvCxnSpPr>
            <a:stCxn id="198" idx="4"/>
            <a:endCxn id="211" idx="0"/>
          </p:cNvCxnSpPr>
          <p:nvPr/>
        </p:nvCxnSpPr>
        <p:spPr>
          <a:xfrm flipH="1">
            <a:off x="3852375" y="1065600"/>
            <a:ext cx="2700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9"/>
          <p:cNvCxnSpPr>
            <a:stCxn id="211" idx="0"/>
            <a:endCxn id="202" idx="0"/>
          </p:cNvCxnSpPr>
          <p:nvPr/>
        </p:nvCxnSpPr>
        <p:spPr>
          <a:xfrm>
            <a:off x="3852402" y="1616924"/>
            <a:ext cx="286500" cy="4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9"/>
          <p:cNvCxnSpPr>
            <a:stCxn id="198" idx="4"/>
            <a:endCxn id="202" idx="0"/>
          </p:cNvCxnSpPr>
          <p:nvPr/>
        </p:nvCxnSpPr>
        <p:spPr>
          <a:xfrm>
            <a:off x="4122375" y="1065600"/>
            <a:ext cx="16500" cy="102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5" name="Google Shape;215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515501" y="1074760"/>
            <a:ext cx="884700" cy="907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9"/>
          <p:cNvCxnSpPr>
            <a:stCxn id="199" idx="4"/>
            <a:endCxn id="215" idx="0"/>
          </p:cNvCxnSpPr>
          <p:nvPr/>
        </p:nvCxnSpPr>
        <p:spPr>
          <a:xfrm flipH="1">
            <a:off x="5411700" y="1065600"/>
            <a:ext cx="525600" cy="4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9"/>
          <p:cNvCxnSpPr>
            <a:stCxn id="215" idx="0"/>
            <a:endCxn id="203" idx="0"/>
          </p:cNvCxnSpPr>
          <p:nvPr/>
        </p:nvCxnSpPr>
        <p:spPr>
          <a:xfrm>
            <a:off x="5411727" y="1528636"/>
            <a:ext cx="525900" cy="5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9"/>
          <p:cNvCxnSpPr>
            <a:stCxn id="199" idx="4"/>
            <a:endCxn id="203" idx="0"/>
          </p:cNvCxnSpPr>
          <p:nvPr/>
        </p:nvCxnSpPr>
        <p:spPr>
          <a:xfrm>
            <a:off x="5937300" y="1065600"/>
            <a:ext cx="300" cy="10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9" name="Google Shape;219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330451" y="1162302"/>
            <a:ext cx="714074" cy="732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9"/>
          <p:cNvCxnSpPr>
            <a:stCxn id="200" idx="4"/>
            <a:endCxn id="219" idx="0"/>
          </p:cNvCxnSpPr>
          <p:nvPr/>
        </p:nvCxnSpPr>
        <p:spPr>
          <a:xfrm flipH="1">
            <a:off x="7053800" y="1072600"/>
            <a:ext cx="285600" cy="4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>
            <a:stCxn id="219" idx="0"/>
            <a:endCxn id="204" idx="0"/>
          </p:cNvCxnSpPr>
          <p:nvPr/>
        </p:nvCxnSpPr>
        <p:spPr>
          <a:xfrm>
            <a:off x="7053825" y="1528639"/>
            <a:ext cx="300900" cy="55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2" name="Google Shape;222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875912" y="1164139"/>
            <a:ext cx="800450" cy="82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9"/>
          <p:cNvCxnSpPr>
            <a:stCxn id="200" idx="4"/>
            <a:endCxn id="222" idx="0"/>
          </p:cNvCxnSpPr>
          <p:nvPr/>
        </p:nvCxnSpPr>
        <p:spPr>
          <a:xfrm>
            <a:off x="7339400" y="1072600"/>
            <a:ext cx="526200" cy="50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9"/>
          <p:cNvCxnSpPr>
            <a:stCxn id="204" idx="0"/>
            <a:endCxn id="222" idx="0"/>
          </p:cNvCxnSpPr>
          <p:nvPr/>
        </p:nvCxnSpPr>
        <p:spPr>
          <a:xfrm flipH="1" rot="10800000">
            <a:off x="7354838" y="1574900"/>
            <a:ext cx="510600" cy="5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9"/>
          <p:cNvCxnSpPr>
            <a:stCxn id="200" idx="4"/>
            <a:endCxn id="204" idx="0"/>
          </p:cNvCxnSpPr>
          <p:nvPr/>
        </p:nvCxnSpPr>
        <p:spPr>
          <a:xfrm>
            <a:off x="7339400" y="1072600"/>
            <a:ext cx="15300" cy="10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9"/>
          <p:cNvCxnSpPr>
            <a:stCxn id="227" idx="0"/>
            <a:endCxn id="201" idx="0"/>
          </p:cNvCxnSpPr>
          <p:nvPr/>
        </p:nvCxnSpPr>
        <p:spPr>
          <a:xfrm>
            <a:off x="1003727" y="1564111"/>
            <a:ext cx="381600" cy="52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9"/>
          <p:cNvCxnSpPr>
            <a:stCxn id="227" idx="0"/>
            <a:endCxn id="197" idx="4"/>
          </p:cNvCxnSpPr>
          <p:nvPr/>
        </p:nvCxnSpPr>
        <p:spPr>
          <a:xfrm flipH="1" rot="10800000">
            <a:off x="1003727" y="1041211"/>
            <a:ext cx="336600" cy="52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9"/>
          <p:cNvCxnSpPr>
            <a:stCxn id="197" idx="4"/>
            <a:endCxn id="201" idx="0"/>
          </p:cNvCxnSpPr>
          <p:nvPr/>
        </p:nvCxnSpPr>
        <p:spPr>
          <a:xfrm>
            <a:off x="1340350" y="1041200"/>
            <a:ext cx="45000" cy="10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0" name="Google Shape;230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72226" y="1122372"/>
            <a:ext cx="884700" cy="9077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29"/>
          <p:cNvCxnSpPr>
            <a:endCxn id="230" idx="0"/>
          </p:cNvCxnSpPr>
          <p:nvPr/>
        </p:nvCxnSpPr>
        <p:spPr>
          <a:xfrm>
            <a:off x="1363499" y="1064449"/>
            <a:ext cx="397200" cy="5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9"/>
          <p:cNvCxnSpPr>
            <a:endCxn id="201" idx="0"/>
          </p:cNvCxnSpPr>
          <p:nvPr/>
        </p:nvCxnSpPr>
        <p:spPr>
          <a:xfrm flipH="1">
            <a:off x="1385325" y="1592900"/>
            <a:ext cx="3951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9"/>
          <p:cNvSpPr txBox="1"/>
          <p:nvPr/>
        </p:nvSpPr>
        <p:spPr>
          <a:xfrm>
            <a:off x="958625" y="429575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g0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3795313" y="44180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g1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610325" y="45660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g2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7012475" y="46015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g3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7053825" y="223765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h3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5610500" y="223260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h2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3811988" y="2249200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h1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1070350" y="2236925"/>
            <a:ext cx="6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h0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27" name="Google Shape;227;p29" title="Screenshot 2025-08-08 at 23.0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7501" y="1110235"/>
            <a:ext cx="884700" cy="90775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/>
        </p:nvSpPr>
        <p:spPr>
          <a:xfrm>
            <a:off x="187100" y="3053100"/>
            <a:ext cx="5590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Weights:</a:t>
            </a:r>
            <a:endParaRPr b="1" sz="1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Char char="●"/>
            </a:pPr>
            <a:r>
              <a:rPr lang="en-GB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All aᵢ vertices (i = 0,1,2,3,4): weight = 1</a:t>
            </a:r>
            <a:endParaRPr sz="1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Char char="●"/>
            </a:pPr>
            <a:r>
              <a:rPr lang="en-GB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All other vertices (f, gᵢ, hᵢ): weight = 0</a:t>
            </a:r>
            <a:endParaRPr sz="1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/>
        </p:nvSpPr>
        <p:spPr>
          <a:xfrm>
            <a:off x="552800" y="6293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highlight>
                  <a:srgbClr val="FFF3CD"/>
                </a:highlight>
                <a:latin typeface="Verdana"/>
                <a:ea typeface="Verdana"/>
                <a:cs typeface="Verdana"/>
                <a:sym typeface="Verdana"/>
              </a:rPr>
              <a:t> a₂ → a₀ → a₁ → a₃ → f</a:t>
            </a:r>
            <a:endParaRPr sz="1800"/>
          </a:p>
        </p:txBody>
      </p:sp>
      <p:sp>
        <p:nvSpPr>
          <p:cNvPr id="247" name="Google Shape;247;p30"/>
          <p:cNvSpPr txBox="1"/>
          <p:nvPr/>
        </p:nvSpPr>
        <p:spPr>
          <a:xfrm>
            <a:off x="119025" y="1342050"/>
            <a:ext cx="35751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dana"/>
              <a:buChar char="●"/>
            </a:pP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w(I)</a:t>
            </a: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 4 (from </a:t>
            </a: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a₂, a₀, a₁ </a:t>
            </a:r>
            <a:r>
              <a:rPr lang="en-GB" sz="1600">
                <a:solidFill>
                  <a:schemeClr val="lt1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a₃, f</a:t>
            </a: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dana"/>
              <a:buChar char="●"/>
            </a:pP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Total weight in gadget: 5 (from all aᵢ vertices)</a:t>
            </a:r>
            <a:endParaRPr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Verdana"/>
              <a:buChar char="●"/>
            </a:pPr>
            <a:r>
              <a:rPr lang="en-GB" sz="1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Ratio: 4/5</a:t>
            </a:r>
            <a:endParaRPr sz="15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340175" y="34358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w(I)/w(V) ≤ d/(d+1)</a:t>
            </a:r>
            <a:endParaRPr/>
          </a:p>
        </p:txBody>
      </p:sp>
      <p:pic>
        <p:nvPicPr>
          <p:cNvPr id="249" name="Google Shape;249;p30" title="Screenshot 2025-08-29 at 17.30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800" y="1008164"/>
            <a:ext cx="4133325" cy="31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5735275" y="2024150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0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6376175" y="1249875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7541475" y="1193950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8340400" y="2280225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7810350" y="3107900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6561925" y="3195625"/>
            <a:ext cx="31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1</a:t>
            </a:r>
            <a:endParaRPr sz="13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/>
        </p:nvSpPr>
        <p:spPr>
          <a:xfrm>
            <a:off x="1569475" y="1623575"/>
            <a:ext cx="5855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rgbClr val="40404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4400"/>
            <a:ext cx="8839198" cy="2544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WEIGHT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 %% === HIGHLIGHTING ===&#10;    %% Highlight node B (green)&#10;    style B fill:#99ff99,stroke:#333,stroke-width:3px" id="266" name="Google Shape;266;p32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/>
        </p:nvSpPr>
        <p:spPr>
          <a:xfrm>
            <a:off x="1402100" y="464950"/>
            <a:ext cx="41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Choose Root Node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290600" y="1089725"/>
            <a:ext cx="4896300" cy="22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w(N(A)) = w(A) + w(B) + w(C) + w(I) + w(J) = 5 + 8 + 12 + 11 + 6 = 42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w(N(B)) = w(B) + w(A) + w(C) + w(D) + w(J) = 8 + 5 + 12 + 3 + 6 = 34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w(N(C)) = w(C) + w(A) + w(B) + w(D) + w(E) = 12 + 5 + 8 + 3 + 10 = 38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w(N(D)) = w(D) + w(B) + w(C) + w(E) + w(F) = 3 + 8 + 12 + 10 + 15 = 48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w(N(E)) = w(E) + w(C) + w(D) + w(F) + w(G) = 10 + 12 + 3 + 15 + 7 = 47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w(N(F)) = w(F) + w(D) + w(E) + w(G) + w(H) = 15 + 3 + 10 + 7 + 9 = 44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w(N(G)) = w(G) + w(E) + w(F) + w(H) + w(I) = 7 + 10 + 15 + 9 + 11 = 52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w(N(H)) = w(H) + w(F) + w(G) + w(I) + w(J) = 9 + 15 + 7 + 11 + 6 = 48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w(N(I)) = w(I) + w(A) + w(G) + w(H) + w(J) = 11 + 5 + 7 + 9 + 6 = 38</a:t>
            </a:r>
            <a:endParaRPr sz="10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  <a:highlight>
                  <a:schemeClr val="dk1"/>
                </a:highlight>
              </a:rPr>
              <a:t>w(N(J)) = w(J) + w(A) + w(B) + w(H) + w(I) = 6 + 5 + 8 + 9 + 11 = 39</a:t>
            </a:r>
            <a:endParaRPr sz="18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500">
                <a:solidFill>
                  <a:schemeClr val="accent3"/>
                </a:solidFill>
                <a:highlight>
                  <a:schemeClr val="lt1"/>
                </a:highlight>
              </a:rPr>
            </a:br>
            <a:r>
              <a:rPr lang="en-GB" sz="1500">
                <a:solidFill>
                  <a:schemeClr val="lt1"/>
                </a:solidFill>
                <a:highlight>
                  <a:schemeClr val="dk1"/>
                </a:highlight>
              </a:rPr>
              <a:t>Here W(N(B)) is lowest (34).  So, B is selected as root.</a:t>
            </a:r>
            <a:endParaRPr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WEIGHT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    &#10;    %% === HIGHLIGHTING ===&#10;    %% Highlight node B (green)&#10;    style B fill:#99ff99,stroke:#333,stroke-width:3px&#10;    &#10;    %% Highlight neighbors of B: A, C, D, J (light blue)&#10;    style A fill:#99ccff,stroke:#333,stroke-width:2px&#10;    style C fill:#99ccff,stroke:#333,stroke-width:2px&#10;    style D fill:#99ccff,stroke:#333,stroke-width:2px&#10;    style J fill:#99ccff,stroke:#333,stroke-width:2px&#10;    &#10;    %% Highlight edges from B to neighbors (thick red)&#10;    linkStyle 0 stroke:#ff0000,stroke-width:3px  %% A-B&#10;    linkStyle 4 stroke:#ff0000,stroke-width:3px  %% B-C&#10;    linkStyle 5 stroke:#ff0000,stroke-width:3px  %% B-D&#10;    linkStyle 6 stroke:#ff0000,stroke-width:3px  %% B-J&#10;" id="273" name="Google Shape;273;p33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1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descr="graph TB&#10;  B((&quot;B=8&quot;))" id="275" name="Google Shape;275;p33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00" y="136800"/>
            <a:ext cx="721916" cy="72191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1028900" y="2265975"/>
            <a:ext cx="4752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A : w(A)/ u(A) = 5/3 = 1.67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C : w(C) / u(C) = 12/3 = 4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D: w(D) / u(D) = 3/3 = 1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J = w(J) / u(J) = 6/3 = 2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C with maximum value 4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WEIGHT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Node C (current) - bright green&#10;    style C fill:#99ff99,stroke:#333,stroke-width:3px&#10;    &#10;    %% Neighbors of C - light blue&#10;    style A fill:#99ccff,stroke:#333,stroke-width:2px&#10;    style D fill:#99ccff,stroke:#333,stroke-width:2px&#10;    style E fill:#99ccff,stroke:#333,stroke-width:2px&#10;    &#10;    %% Edges from C to neighbors - thick red&#10;    linkStyle 1 stroke:#ff0000,stroke-width:3px  %% A-C&#10;    linkStyle 7 stroke:#ff0000,stroke-width:3px  %% C-D&#10;    linkStyle 8 stroke:#ff0000,stroke-width:3px  %% C-E&#10;    &#10;    %% Node B (processed) - gray&#10;    style B fill:#cccccc,stroke:#333,stroke-width:2px&#10;    &#10;    %% Edge B-C (tree edge) - thick blue&#10;    linkStyle 4 stroke:#0000ff,stroke-width:3px  %% B-C&#10;    &#10;    %% Candidate scores&#10;    classDef score fill:#ffffff,stroke:#000,stroke-dasharray:0&#10;    class A,D,E score" id="281" name="Google Shape;281;p34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2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descr="graph TB&#10;    %% === VERTICES WITH WEIGHTS ===&#10;  B((&quot;B=8&quot;))&#10;  C((&quot;C=12&quot;))&#10;  &#10;    %% === EDGE CONNECTIONS ===&#10;  B --- C" id="283" name="Google Shape;283;p34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988" y="135675"/>
            <a:ext cx="835025" cy="1988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 txBox="1"/>
          <p:nvPr/>
        </p:nvSpPr>
        <p:spPr>
          <a:xfrm>
            <a:off x="1028900" y="2265975"/>
            <a:ext cx="475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A : w(A)/ u(A) = 5/2 = 2.5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D: w(D) / u(D) = 3/2 = 1.5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E = w(E) / u(E) = 10/2 = 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E with maximum value 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E (bright green)&#10;    style E fill:#99ff99,stroke:#333,stroke-width:3px&#10;    &#10;    %% Neighbors of E (light blue)&#10;    style D fill:#99ccff,stroke:#333,stroke-width:2px&#10;    style F fill:#99ccff,stroke:#333,stroke-width:2px&#10;    style G fill:#99ccff,stroke:#333,stroke-width:2px&#10;    &#10;    %% Edges from E to neighbors (thick red)&#10;    linkStyle 9 stroke:#ff0000,stroke-width:3px  %% D-E&#10;    linkStyle 11 stroke:#ff0000,stroke-width:3px  %% E-F&#10;    linkStyle 12 stroke:#ff0000,stroke-width:3px  %% E-G&#10;    &#10;    %% Processed nodes B and C (gray)&#10;    style B fill:#cccccc,stroke:#333,stroke-width:2px&#10;    style C fill:#cccccc,stroke:#333,stroke-width:2px&#10;    &#10;    %% Tree edges (thick blue)&#10;    linkStyle 4 stroke:#0000ff,stroke-width:3px  %% B-C&#10;    linkStyle 8 stroke:#0000ff,stroke-width:3px  %% C-E" id="289" name="Google Shape;289;p35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3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&#10;    %% === EDGE CONNECTIONS ===&#10;  B --- C&#10;  C --- E" id="291" name="Google Shape;291;p35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38" y="135675"/>
            <a:ext cx="835025" cy="3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5"/>
          <p:cNvSpPr txBox="1"/>
          <p:nvPr/>
        </p:nvSpPr>
        <p:spPr>
          <a:xfrm>
            <a:off x="1410150" y="2002900"/>
            <a:ext cx="475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D: w(D)/u(D) = 3/1 =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F: w(F)/u(F) = 15/3 = 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G: w(G)/u(G) = 7/3 ≈ 2.33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F with maximum value 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F (bright green)&#10;    style F fill:#99ff99,stroke:#333,stroke-width:3px&#10;    &#10;    %% Neighbors of F (light blue)&#10;    style D fill:#99ccff,stroke:#333,stroke-width:2px&#10;    style G fill:#99ccff,stroke:#333,stroke-width:2px&#10;    style H fill:#99ccff,stroke:#333,stroke-width:2px&#10;    &#10;    %% Edges from F to neighbors (thick red)&#10;    linkStyle 10 stroke:#ff0000,stroke-width:3px  %% D-F&#10;    linkStyle 13 stroke:#ff0000,stroke-width:3px  %% F-G&#10;    linkStyle 14 stroke:#ff0000,stroke-width:3px  %% F-H&#10;    &#10;    %% Processed nodes B, C, E (gray)&#10;    style B fill:#cccccc,stroke:#333,stroke-width:2px&#10;    style C fill:#cccccc,stroke:#333,stroke-width:2px&#10;    style E fill:#cccccc,stroke:#333,stroke-width:2px&#10;    &#10;    %% Tree edges (thick blue)&#10;    linkStyle 4 stroke:#0000ff,stroke-width:3px  %% B-C&#10;    linkStyle 8 stroke:#0000ff,stroke-width:3px  %% C-E&#10;    linkStyle 11 stroke:#0000ff,stroke-width:3px  %% E-F" id="297" name="Google Shape;297;p36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6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4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&#10;    %% === EDGE CONNECTIONS ===&#10;  B --- C&#10;  C --- E&#10;  E --- F" id="299" name="Google Shape;299;p36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49" y="135675"/>
            <a:ext cx="835025" cy="449480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 txBox="1"/>
          <p:nvPr/>
        </p:nvSpPr>
        <p:spPr>
          <a:xfrm>
            <a:off x="1687450" y="1576275"/>
            <a:ext cx="4752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D: w(D)/u(D) = 3/1 =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G: w(G)/u(G) = 7/3 ≈ 2.33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H: w(H)/u(H) = 9/3 =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D and H both has maximum value. Let’s choose one of them.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D with maximum value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D (bright green)&#10;    style D fill:#99ff99,stroke:#333,stroke-width:3px&#10;    &#10;    %% Neighbors of D (light blue)&#10;    style B fill:#99ccff,stroke:#333,stroke-width:2px&#10;    style C fill:#99ccff,stroke:#333,stroke-width:2px&#10;    style E fill:#99ccff,stroke:#333,stroke-width:2px&#10;    style F fill:#99ccff,stroke:#333,stroke-width:2px&#10;    &#10;    %% Edges from D to neighbors (thick red)&#10;    linkStyle 5 stroke:#ff0000,stroke-width:3px  %% B-D&#10;    linkStyle 7 stroke:#ff0000,stroke-width:3px  %% C-D&#10;    linkStyle 9 stroke:#ff0000,stroke-width:3px  %% D-E&#10;    linkStyle 10 stroke:#ff0000,stroke-width:3px  %% D-F&#10;    &#10;    %% Processed nodes B, C, E, F (gray)&#10;    style B fill:#cccccc,stroke:#333,stroke-width:2px&#10;    style C fill:#cccccc,stroke:#333,stroke-width:2px&#10;    style E fill:#cccccc,stroke:#333,stroke-width:2px&#10;    style F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F-D" id="305" name="Google Shape;305;p37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5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&#10;    %% === EDGE CONNECTIONS ===&#10;  B --- C&#10;  C --- E&#10;  E --- F&#10;  F --- D" id="307" name="Google Shape;307;p37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25" y="135674"/>
            <a:ext cx="835000" cy="45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7"/>
          <p:cNvSpPr txBox="1"/>
          <p:nvPr/>
        </p:nvSpPr>
        <p:spPr>
          <a:xfrm>
            <a:off x="1687450" y="1576275"/>
            <a:ext cx="475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No unvisited neighbors. 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we backtrack and find F node with unvisited neighbors. </a:t>
            </a: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So, we will go back to F node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F (bright green)&#10;    style F fill:#99ff99,stroke:#333,stroke-width:3px&#10;    &#10;    %% Neighbors of F (light blue)&#10;    style G fill:#99ccff,stroke:#333,stroke-width:2px&#10;    style H fill:#99ccff,stroke:#333,stroke-width:2px&#10;    &#10;    %% Edges from F to neighbors (thick red)&#10;    linkStyle 13 stroke:#ff0000,stroke-width:3px  %% F-G&#10;    linkStyle 14 stroke:#ff0000,stroke-width:3px  %% F-H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D-F" id="313" name="Google Shape;313;p38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6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1687450" y="1576275"/>
            <a:ext cx="475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: w(G)/u(G) = 7/2 = 3.5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H: w(H)/u(H) = 9/3 =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G with maximum value 3.5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&#10;    %% === EDGE CONNECTIONS ===&#10;  B --- C&#10;  C --- E&#10;  E --- F&#10;  F --- D" id="316" name="Google Shape;316;p38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25" y="288074"/>
            <a:ext cx="835000" cy="45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G (bright green)&#10;    style G fill:#99ff99,stroke:#333,stroke-width:3px&#10;    &#10;    %% Neighbors of G (light blue)&#10;    style E fill:#99ccff,stroke:#333,stroke-width:2px&#10;    style H fill:#99ccff,stroke:#333,stroke-width:2px&#10;    style I fill:#99ccff,stroke:#333,stroke-width:2px&#10;    &#10;    %% Edges from G to neighbors (thick red)&#10;    linkStyle 12 stroke:#ff0000,stroke-width:3px  %% E-G&#10;    linkStyle 15 stroke:#ff0000,stroke-width:3px  %% G-H&#10;    linkStyle 16 stroke:#ff0000,stroke-width:3px  %% G-I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style F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D-F&#10;    linkStyle 13 stroke:#0000ff,stroke-width:3px  %% F-G" id="321" name="Google Shape;321;p39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2800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7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1687450" y="1576275"/>
            <a:ext cx="475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H: w(H)/u(H) = 9/2 = 4.5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I: w(I)/u(I) = 11/3 ≈ 3.67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H with maximum value 4.5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&#10;    %% === EDGE CONNECTIONS ===&#10;  B --- C&#10;  C --- E&#10;  E --- F&#10;  F --- D&#10;  F --- G" id="324" name="Google Shape;324;p39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100" y="135674"/>
            <a:ext cx="1907325" cy="481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H (bright green)&#10;    style H fill:#99ff99,stroke:#333,stroke-width:3px&#10;    &#10;    %% Neighbors of H (light blue)&#10;    style F fill:#99ccff,stroke:#333,stroke-width:2px&#10;    style G fill:#99ccff,stroke:#333,stroke-width:2px&#10;    style I fill:#99ccff,stroke:#333,stroke-width:2px&#10;    style J fill:#99ccff,stroke:#333,stroke-width:2px&#10;    &#10;    %% Edges from H to neighbors (thick red)&#10;    linkStyle 14 stroke:#ff0000,stroke-width:3px  %% F-H&#10;    linkStyle 15 stroke:#ff0000,stroke-width:3px  %% G-H&#10;    linkStyle 17 stroke:#ff0000,stroke-width:3px  %% H-I&#10;    linkStyle 18 stroke:#ff0000,stroke-width:3px  %% H-J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style F fill:#cccccc,stroke:#333,stroke-width:2px&#10;    style G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D-F&#10;    linkStyle 13 stroke:#0000ff,stroke-width:3px  %% F-G&#10;    linkStyle 15 stroke:#0000ff,stroke-width:3px  %% G-H" id="329" name="Google Shape;329;p40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9925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8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687450" y="1576275"/>
            <a:ext cx="4752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I: w(I)/u(I) = 11/2 = 5.5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J: w(J)/u(J) = 6/2 = 3 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I with maximum value 5.5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&#10;    %% === EDGE CONNECTIONS ===&#10;  B --- C&#10;  C --- E&#10;  E --- F&#10;  F --- D&#10;  F --- G&#10;  G --- H" id="332" name="Google Shape;332;p40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75" y="113900"/>
            <a:ext cx="1907325" cy="48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I (bright green)&#10;    style I fill:#99ff99,stroke:#333,stroke-width:3px&#10;    &#10;    %% Neighbors of I (light blue)&#10;    style A fill:#99ccff,stroke:#333,stroke-width:2px&#10;    style G fill:#99ccff,stroke:#333,stroke-width:2px&#10;    style H fill:#99ccff,stroke:#333,stroke-width:2px&#10;    style J fill:#99ccff,stroke:#333,stroke-width:2px&#10;    &#10;    %% Edges from I to neighbors (thick red)&#10;    linkStyle 2 stroke:#ff0000,stroke-width:3px  %% A-I&#10;    linkStyle 16 stroke:#ff0000,stroke-width:3px  %% G-I&#10;    linkStyle 17 stroke:#ff0000,stroke-width:3px  %% H-I&#10;    linkStyle 19 stroke:#ff0000,stroke-width:3px  %% I-J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style F fill:#cccccc,stroke:#333,stroke-width:2px&#10;    style G fill:#cccccc,stroke:#333,stroke-width:2px&#10;    style H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D-F&#10;    linkStyle 13 stroke:#0000ff,stroke-width:3px  %% F-G&#10;    linkStyle 15 stroke:#0000ff,stroke-width:3px  %% G-H&#10;    linkStyle 17 stroke:#0000ff,stroke-width:3px  %% H-I" id="337" name="Google Shape;337;p41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9925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9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2075975" y="1576275"/>
            <a:ext cx="436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Get Neighbour with maximum w(x) / u(x)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A: w(A)/u(A) = 5/1 = 5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J: w(J)/u(J) = 6/1 = 6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next node is J with maximum value 6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I((&quot;I=11&quot;))&#10;  &#10;    %% === EDGE CONNECTIONS ===&#10;  B --- C&#10;  C --- E&#10;  E --- F&#10;  F --- D&#10;  F --- G&#10;  G --- H&#10;  H --- I" id="340" name="Google Shape;340;p41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50" y="64125"/>
            <a:ext cx="1920225" cy="492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J (bright green)&#10;    style J fill:#99ff99,stroke:#333,stroke-width:3px&#10;    &#10;    %% Neighbors of J (light blue)&#10;    style A fill:#99ccff,stroke:#333,stroke-width:2px&#10;    style B fill:#99ccff,stroke:#333,stroke-width:2px&#10;    style H fill:#99ccff,stroke:#333,stroke-width:2px&#10;    style I fill:#99ccff,stroke:#333,stroke-width:2px&#10;    &#10;    %% Edges from J to neighbors (thick red)&#10;    linkStyle 3 stroke:#ff0000,stroke-width:3px  %% A-J&#10;    linkStyle 6 stroke:#ff0000,stroke-width:3px  %% B-J&#10;    linkStyle 18 stroke:#ff0000,stroke-width:3px  %% H-J&#10;    linkStyle 19 stroke:#ff0000,stroke-width:3px  %% I-J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style F fill:#cccccc,stroke:#333,stroke-width:2px&#10;    style G fill:#cccccc,stroke:#333,stroke-width:2px&#10;    style H fill:#cccccc,stroke:#333,stroke-width:2px&#10;    style I fill:#cccccc,stroke:#333,stroke-width:2px&#10;    &#10;    %% Tree edges (thick blue)&#10;    linkStyle 4 stroke:#0000ff,stroke-width:3px  %% B-C&#10;    linkStyle 8 stroke:#0000ff,stroke-width:3px  %% C-E&#10;    linkStyle 11 stroke:#0000ff,stroke-width:3px  %% E-F&#10;    linkStyle 10 stroke:#0000ff,stroke-width:3px  %% D-F&#10;    linkStyle 13 stroke:#0000ff,stroke-width:3px  %% F-G&#10;    linkStyle 15 stroke:#0000ff,stroke-width:3px  %% G-H&#10;    linkStyle 17 stroke:#0000ff,stroke-width:3px  %% H-I&#10;    linkStyle 19 stroke:#0000ff,stroke-width:3px  %% I-J" id="345" name="Google Shape;345;p42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9925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2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10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47" name="Google Shape;347;p42"/>
          <p:cNvSpPr txBox="1"/>
          <p:nvPr/>
        </p:nvSpPr>
        <p:spPr>
          <a:xfrm>
            <a:off x="2075975" y="1576275"/>
            <a:ext cx="436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A is the only unvisited node left.</a:t>
            </a: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So,  A is the next node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I((&quot;I=11&quot;))&#10;  J((&quot;J=6&quot;))&#10;  &#10;    %% === EDGE CONNECTIONS ===&#10;  B --- C&#10;  C --- E&#10;  E --- F&#10;  F --- D&#10;  F --- G&#10;  G --- H&#10;  H --- I&#10;  I --- J" id="348" name="Google Shape;348;p42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50" y="135675"/>
            <a:ext cx="1920225" cy="498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CIRCULAR NODES ===&#10;    A((&quot;A=5&quot;))&#10;    B((&quot;B=8&quot;))&#10;    C((&quot;C=12&quot;))&#10;    D((&quot;D=3&quot;))&#10;    E((&quot;E=10&quot;))&#10;    F((&quot;F=15&quot;))&#10;    G((&quot;G=7&quot;))&#10;    H((&quot;H=9&quot;))&#10;    I((&quot;I=11&quot;))&#10;    J((&quot;J=6&quot;))&#10;&#10;    %% === EDGE CONNECTIONS ===&#10;    A --- B&#10;    A --- C&#10;    A --- I&#10;    A --- J&#10;    B --- C&#10;    B --- D&#10;    B --- J&#10;    C --- D&#10;    C --- E&#10;    D --- E&#10;    D --- F&#10;    E --- F&#10;    E --- G&#10;    F --- G&#10;    F --- H&#10;    G --- H&#10;    G --- I&#10;    H --- I&#10;    H --- J&#10;    I --- J&#10;&#10;    %% === HIGHLIGHTS ===&#10;    %% Current node J (bright green)&#10;    style A fill:#99ff99,stroke:#333,stroke-width:3px&#10;    &#10;    &#10;    %% Processed nodes (gray)&#10;    style B fill:#cccccc,stroke:#333,stroke-width:2px&#10;    style C fill:#cccccc,stroke:#333,stroke-width:2px&#10;    style D fill:#cccccc,stroke:#333,stroke-width:2px&#10;    style E fill:#cccccc,stroke:#333,stroke-width:2px&#10;    style F fill:#cccccc,stroke:#333,stroke-width:2px&#10;    style G fill:#cccccc,stroke:#333,stroke-width:2px&#10;    style H fill:#cccccc,stroke:#333,stroke-width:2px&#10;    style I fill:#cccccc,stroke:#333,stroke-width:2px&#10;    style J fill:#cccccc,stroke:#333,stroke-width:2px&#10;    &#10;    %% Tree edges (thick blue)&#10;    linkStyle 3 stroke:#0000ff,stroke-width:3px  %% B-C&#10;    linkStyle 4 stroke:#0000ff,stroke-width:3px  %% B-C&#10;    linkStyle 8 stroke:#0000ff,stroke-width:3px  %% C-E&#10;    linkStyle 11 stroke:#0000ff,stroke-width:3px  %% E-F&#10;    linkStyle 10 stroke:#0000ff,stroke-width:3px  %% D-F&#10;    linkStyle 13 stroke:#0000ff,stroke-width:3px  %% F-G&#10;    linkStyle 15 stroke:#0000ff,stroke-width:3px  %% G-H&#10;    linkStyle 17 stroke:#0000ff,stroke-width:3px  %% H-I&#10;    linkStyle 19 stroke:#0000ff,stroke-width:3px  %% I-J" id="353" name="Google Shape;353;p43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400" y="179925"/>
            <a:ext cx="2279825" cy="47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3"/>
          <p:cNvSpPr txBox="1"/>
          <p:nvPr/>
        </p:nvSpPr>
        <p:spPr>
          <a:xfrm>
            <a:off x="2980950" y="135675"/>
            <a:ext cx="31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</a:rPr>
              <a:t>Dfs Traversal - Iteration 11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2075975" y="1576275"/>
            <a:ext cx="43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I((&quot;I=11&quot;))&#10;  J((&quot;J=6&quot;))&#10;  A((&quot;A=5&quot;))&#10;  &#10;    %% === EDGE CONNECTIONS ===&#10;  B --- C&#10;  C --- E&#10;  E --- F&#10;  F --- D&#10;  F --- G&#10;  G --- H&#10;  H --- I&#10;  I --- J&#10;  J --- A" id="356" name="Google Shape;356;p43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00" y="118938"/>
            <a:ext cx="1920225" cy="490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/>
        </p:nvSpPr>
        <p:spPr>
          <a:xfrm>
            <a:off x="2075975" y="1576275"/>
            <a:ext cx="43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I((&quot;I=11&quot;))&#10;  J((&quot;J=6&quot;))&#10;  A((&quot;A=5&quot;))&#10;  &#10;    %% === EDGE CONNECTIONS ===&#10;  B --- C&#10;  C --- E&#10;  E --- F&#10;  F --- D&#10;  F --- G&#10;  G --- H&#10;  H --- I&#10;  I --- J&#10;  J --- A" id="362" name="Google Shape;362;p44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50" y="76288"/>
            <a:ext cx="1920225" cy="490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950" y="933125"/>
            <a:ext cx="6676675" cy="236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4"/>
          <p:cNvSpPr txBox="1"/>
          <p:nvPr/>
        </p:nvSpPr>
        <p:spPr>
          <a:xfrm>
            <a:off x="3928500" y="206175"/>
            <a:ext cx="12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Lemma 3.1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65" name="Google Shape;365;p44" title="Screenshot 2025-08-09 at 16.42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3125" y="3437175"/>
            <a:ext cx="5760917" cy="15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/>
        </p:nvSpPr>
        <p:spPr>
          <a:xfrm>
            <a:off x="2075975" y="1576275"/>
            <a:ext cx="43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=== VERTICES WITH WEIGHTS AND ROLES ===&#10;    B((&quot;B=8&lt;br&gt;(x₁')&quot;))&#10;    C((&quot;C=12&lt;br&gt;(x₁)&quot;))&#10;    D((&quot;D=3&lt;br&gt;(x₀)&quot;))&#10;    %% ... other vertices unchanged&#10;&#10;    %% === TREE EDGES ===&#10;    B --- C&#10;    C --- E((&quot;E=10&quot;))&#10;    E --- F((&quot;F=15&quot;))&#10;    F --- D&#10;    F --- G((&quot;G=7&quot;))&#10;    G --- H((&quot;H=9&quot;))&#10;    H --- I((&quot;I=11&quot;))&#10;    I --- J((&quot;J=6&quot;))&#10;    J --- A((&quot;A=5&quot;))&#10;&#10;    %% === BACKWARD EDGE (DOTTED) ===&#10;    D -.-&gt; B" id="371" name="Google Shape;371;p45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25" y="76293"/>
            <a:ext cx="1920225" cy="492232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5"/>
          <p:cNvSpPr txBox="1"/>
          <p:nvPr/>
        </p:nvSpPr>
        <p:spPr>
          <a:xfrm>
            <a:off x="3928500" y="206175"/>
            <a:ext cx="28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Backward Edge D -&gt; B -&gt; C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73" name="Google Shape;373;p45"/>
          <p:cNvSpPr txBox="1"/>
          <p:nvPr/>
        </p:nvSpPr>
        <p:spPr>
          <a:xfrm>
            <a:off x="4145375" y="1301200"/>
            <a:ext cx="409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0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=D  ,  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1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’=B  ,  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1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=C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W(x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1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) ≥ (d-1)w(x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0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)/u(x</a:t>
            </a:r>
            <a:r>
              <a:rPr baseline="-25000"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0</a:t>
            </a: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)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=&gt; 12 ≥ 3 * 3 /  3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=&gt; 12 ≥ 3</a:t>
            </a: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b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</a:b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  <a:latin typeface="Average"/>
                <a:ea typeface="Average"/>
                <a:cs typeface="Average"/>
                <a:sym typeface="Average"/>
              </a:rPr>
              <a:t>So Lemma 3.1 holds</a:t>
            </a:r>
            <a:endParaRPr sz="1800">
              <a:solidFill>
                <a:schemeClr val="lt1"/>
              </a:solidFill>
              <a:highlight>
                <a:schemeClr val="dk1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74" name="Google Shape;374;p45" title="Screenshot 2025-08-09 at 16.42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3525" y="3585125"/>
            <a:ext cx="5271523" cy="14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B&#10;    %% === VERTICES WITH WEIGHTS ===&#10;  B((&quot;B=8&quot;))&#10;  C((&quot;C=12&quot;))&#10;  E((&quot;E=10&quot;))&#10;  F((&quot;F=15&quot;))&#10;  D((&quot;D=3&quot;))&#10;  G((&quot;G=7&quot;))&#10;  H((&quot;H=9&quot;))&#10;  I((&quot;I=11&quot;))&#10;  J((&quot;J=6&quot;))&#10;  A((&quot;A=5&quot;))&#10;  &#10;    %% === EDGE CONNECTIONS ===&#10;  B --- C&#10;  C --- E&#10;  E --- F&#10;  F --- D&#10;  F --- G&#10;  G --- H&#10;  H --- I&#10;  I --- J&#10;  J --- A" id="379" name="Google Shape;379;p46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0" y="118938"/>
            <a:ext cx="1920225" cy="490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200" y="214375"/>
            <a:ext cx="7021901" cy="2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2448400" y="2116775"/>
            <a:ext cx="6068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Internal weight  w(I)=8+12+10+15+7+9+11+6=78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Total weight       w(V)=5+8+12+3+10+15+7+9+11+6=86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So w(I) / w(V) = 78 / 86 = 0.907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𝛃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= (d-1)H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d-1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 = 3 * (1 + ½ + ⅓) = 5.5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𝛃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/(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𝛃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+ 4 - 2) - 𝜺 = 5.5 / (5.5+2) - 𝜺 = 0.733 - 𝜺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So, w(I) / w(V) ≥ 𝛃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/(𝛃</a:t>
            </a:r>
            <a:r>
              <a:rPr baseline="-25000"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+ 4 - 2) - 𝜺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/>
        </p:nvSpPr>
        <p:spPr>
          <a:xfrm>
            <a:off x="2448400" y="2116775"/>
            <a:ext cx="60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TB&#10;    %% Original vertices&#10;    B((&quot;B=8&quot;)) --- S((&quot;S=3&quot;)) --- C((&quot;C=12&quot;))&#10;    %% Rest of the graph unchanged" id="387" name="Google Shape;387;p47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550" y="960500"/>
            <a:ext cx="835025" cy="312519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/>
        </p:nvSpPr>
        <p:spPr>
          <a:xfrm>
            <a:off x="2923500" y="144525"/>
            <a:ext cx="32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Subdivisions of d-regular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89" name="Google Shape;389;p47"/>
          <p:cNvSpPr txBox="1"/>
          <p:nvPr/>
        </p:nvSpPr>
        <p:spPr>
          <a:xfrm>
            <a:off x="3066400" y="1793450"/>
            <a:ext cx="4832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Subdivided vertex has 2 degree. </a:t>
            </a:r>
            <a:b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So next node is fixed. No change to algorithm</a:t>
            </a:r>
            <a:b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</a:br>
            <a:b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But the internal vertex weight to the total vertex weight ratio of the spanning tree becomes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(d-1) / (2d-3) - 𝜺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 txBox="1"/>
          <p:nvPr/>
        </p:nvSpPr>
        <p:spPr>
          <a:xfrm>
            <a:off x="2847450" y="58575"/>
            <a:ext cx="34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Hamiltonian graph x-subdivisions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A((&quot;A=5&quot;)) --- B((&quot;B=8&quot;))&#10;  B --- C((&quot;C=6&quot;))&#10;  C --- D((&quot;D=7&quot;))&#10;  D --- A&#10;  A --- C" id="395" name="Google Shape;395;p48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00" y="753675"/>
            <a:ext cx="4203899" cy="1646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 LR&#10;  %% === STYLE FOR SUBDIVISION VERTICES ===&#10;  classDef subdiv fill:#cceeff,stroke:#333,stroke-width:1px;&#10;&#10;  %% === CYCLE EDGES ===&#10;  A((&quot;A=5&quot;)) --- S_AB1((&quot;S_AB¹=1&quot;))&#10;  S_AB1 --- S_AB2((&quot;S_AB²=1&quot;))&#10;  S_AB2 --- S_AB3((&quot;S_AB³=1&quot;))&#10;  S_AB3 --- S_AB4((&quot;S_AB⁴=1&quot;))&#10;  S_AB4 --- B((&quot;B=8&quot;))&#10;&#10;  B --- S_BC1((&quot;S_BC¹=1&quot;))&#10;  S_BC1 --- S_BC2((&quot;S_BC²=1&quot;))&#10;  S_BC2 --- S_BC3((&quot;S_BC³=1&quot;))&#10;  S_BC3 --- S_BC4((&quot;S_BC⁴=1&quot;))&#10;  S_BC4 --- C((&quot;C=6&quot;))&#10;&#10;  C --- S_CD1((&quot;S_CD¹=1&quot;))&#10;  S_CD1 --- S_CD2((&quot;S_CD²=1&quot;))&#10;  S_CD2 --- S_CD3((&quot;S_CD³=1&quot;))&#10;  S_CD3 --- S_CD4((&quot;S_CD⁴=1&quot;))&#10;  S_CD4 --- D((&quot;D=7&quot;))&#10;&#10;  D --- S_DA1((&quot;S_DA¹=1&quot;))&#10;  S_DA1 --- S_DA2((&quot;S_DA²=1&quot;))&#10;  S_DA2 --- S_DA3((&quot;S_DA³=1&quot;))&#10;  S_DA3 --- S_DA4((&quot;S_DA⁴=1&quot;))&#10;  S_DA4 --- A&#10;&#10;  %% === CHORD EDGE ===&#10;  A --- S_AC1((&quot;S_AC¹=1&quot;))&#10;  S_AC1 --- S_AC2((&quot;S_AC²=1&quot;))&#10;  S_AC2 --- S_AC3((&quot;S_AC³=1&quot;))&#10;  S_AC3 --- S_AC4((&quot;S_AC⁴=1&quot;))&#10;  S_AC4 --- C&#10;&#10;  %% === APPLY STYLES ===&#10;  class S_AB1,S_AB2,S_AB3,S_AB4,S_BC1,S_BC2,S_BC3,S_BC4,S_CD1,S_CD2,S_CD3,S_CD4,S_DA1,S_DA2,S_DA3,S_DA4,S_AC1,S_AC2,S_AC3,S_AC4 subdiv;&#10;" id="396" name="Google Shape;396;p48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00" y="2633900"/>
            <a:ext cx="8898652" cy="21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8"/>
          <p:cNvSpPr txBox="1"/>
          <p:nvPr/>
        </p:nvSpPr>
        <p:spPr>
          <a:xfrm>
            <a:off x="5176550" y="1778400"/>
            <a:ext cx="331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4-subdivision hamiltonian graph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/>
        </p:nvSpPr>
        <p:spPr>
          <a:xfrm>
            <a:off x="2847450" y="58575"/>
            <a:ext cx="34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Hamiltonian graph x-subdivisions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%% Main cycle path (without broken edges)&#10;  A((&quot;A=5&quot;)) --- S_DA4((&quot;S_DA⁴=1&quot;))&#10;  S_DA4 --- S_DA3((&quot;S_DA³=1&quot;))&#10;  S_DA3 --- S_DA2((&quot;S_DA²=1&quot;))&#10;  S_DA2 --- S_DA1((&quot;S_DA¹=1&quot;))&#10;  S_DA1 --- D((&quot;D=7&quot;))&#10;  D --- S_CD4((&quot;S_CD⁴=1&quot;))&#10;  S_CD4 --- S_CD3((&quot;S_CD³=1&quot;))&#10;  S_CD3 --- S_CD2((&quot;S_CD²=1&quot;))&#10;  S_CD2 --- S_CD1((&quot;S_CD¹=1&quot;))&#10;  S_CD1 --- C((&quot;C=6&quot;))&#10;  C --- S_BC4((&quot;S_BC⁴=1&quot;))&#10;  S_BC4 --- S_BC3((&quot;S_BC³=1&quot;))&#10;  S_BC3 --- S_BC2((&quot;S_BC²=1&quot;))&#10;  S_BC2 --- S_BC1((&quot;S_BC¹=1&quot;))&#10;  S_BC1 --- B((&quot;B=8&quot;))&#10;  &#10;  %% Leaf branches from B&#10;  B --- S_AB4((&quot;S_AB⁴=1&quot;))&#10;  S_AB4 --- S_AB3((&quot;S_AB³=1&quot;))&#10;  &#10;  %% Leaf branches from A&#10;  A --- S_AB1((&quot;S_AB¹=1&quot;))&#10;  S_AB1 --- S_AB2((&quot;S_AB²=1&quot;))&#10;  &#10;  A --- S_AC1((&quot;S_AC¹=1&quot;))&#10;  S_AC1 --- S_AC2((&quot;S_AC²=1&quot;))&#10;  &#10;  %% Leaf branches from C&#10;  C --- S_AC4((&quot;S_AC⁴=1&quot;))&#10;  S_AC4 --- S_AC3((&quot;S_AC³=1&quot;))&#10;  S_AC3 --- S_AC2&#10;  &#10;  classDef leaf fill:#f9f,stroke:#333,stroke-width:2px" id="403" name="Google Shape;403;p49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0" y="2348356"/>
            <a:ext cx="8978000" cy="162483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9"/>
          <p:cNvSpPr txBox="1"/>
          <p:nvPr/>
        </p:nvSpPr>
        <p:spPr>
          <a:xfrm>
            <a:off x="1679225" y="901963"/>
            <a:ext cx="46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Broke A -&gt; B -&gt; C -&gt; A hamiltonian cycle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/>
        </p:nvSpPr>
        <p:spPr>
          <a:xfrm>
            <a:off x="2847450" y="58575"/>
            <a:ext cx="34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Hamiltonian graph x-subdivisions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%% Main cycle path (without broken edges)&#10;  A((&quot;A=5&quot;)) --- S_DA4((&quot;S_DA⁴=1&quot;))&#10;  S_DA4 --- S_DA3((&quot;S_DA³=1&quot;))&#10;  S_DA3 --- S_DA2((&quot;S_DA²=1&quot;))&#10;  S_DA2 --- S_DA1((&quot;S_DA¹=1&quot;))&#10;  S_DA1 --- D((&quot;D=7&quot;))&#10;  D --- S_CD4((&quot;S_CD⁴=1&quot;))&#10;  S_CD4 --- S_CD3((&quot;S_CD³=1&quot;))&#10;  S_CD3 --- S_CD2((&quot;S_CD²=1&quot;))&#10;  S_CD2 --- S_CD1((&quot;S_CD¹=1&quot;))&#10;  S_CD1 --- C((&quot;C=6&quot;))&#10;  C --- S_BC4((&quot;S_BC⁴=1&quot;))&#10;  S_BC4 --- S_BC3((&quot;S_BC³=1&quot;))&#10;  S_BC3 --- S_BC2((&quot;S_BC²=1&quot;))&#10;  S_BC2 --- S_BC1((&quot;S_BC¹=1&quot;))&#10;  S_BC1 --- B((&quot;B=8&quot;))&#10;  &#10;  %% Leaf branches from B&#10;  B --- S_AB4((&quot;S_AB⁴=1&quot;))&#10;  S_AB4 --- S_AB3((&quot;S_AB³=1&quot;))&#10;  &#10;  %% Leaf branches from A&#10;  A --- S_AB1((&quot;S_AB¹=1&quot;))&#10;  S_AB1 --- S_AB2((&quot;S_AB²=1&quot;))&#10;  &#10;  A --- S_AC1((&quot;S_AC¹=1&quot;))&#10;  S_AC1 --- S_AC2((&quot;S_AC²=1&quot;))&#10;  &#10;  %% Leaf branches from C&#10;  C --- S_AC4((&quot;S_AC⁴=1&quot;))&#10;  S_AC4 --- S_AC3((&quot;S_AC³=1&quot;))&#10;  &#10;  classDef leaf fill:#f9f,stroke:#333,stroke-width:2px" id="410" name="Google Shape;410;p50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0" y="2292244"/>
            <a:ext cx="8978000" cy="173732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0"/>
          <p:cNvSpPr txBox="1"/>
          <p:nvPr/>
        </p:nvSpPr>
        <p:spPr>
          <a:xfrm>
            <a:off x="1679225" y="901963"/>
            <a:ext cx="46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Broke A -&gt; C -&gt; D -&gt; A chordal chain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/>
        </p:nvSpPr>
        <p:spPr>
          <a:xfrm>
            <a:off x="3148200" y="124675"/>
            <a:ext cx="284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HypoHamiltonian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17" name="Google Shape;417;p51"/>
          <p:cNvSpPr txBox="1"/>
          <p:nvPr/>
        </p:nvSpPr>
        <p:spPr>
          <a:xfrm>
            <a:off x="1000475" y="3721125"/>
            <a:ext cx="6645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Remove one vertex (E) to make this Hamiltonian graph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Generate spanning tree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Add the removed edge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Break cycle at minimum edge if exists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18" name="Google Shape;418;p51" title="Screenshot 2025-08-09 at 17.08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75" y="658775"/>
            <a:ext cx="3558799" cy="31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2"/>
          <p:cNvSpPr txBox="1"/>
          <p:nvPr/>
        </p:nvSpPr>
        <p:spPr>
          <a:xfrm>
            <a:off x="2448400" y="2116775"/>
            <a:ext cx="606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24" name="Google Shape;424;p52"/>
          <p:cNvSpPr txBox="1"/>
          <p:nvPr/>
        </p:nvSpPr>
        <p:spPr>
          <a:xfrm>
            <a:off x="2098950" y="124675"/>
            <a:ext cx="49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x-subdivisions of biconnected outerplanar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A((&quot;A=5&quot;)) --- B((&quot;B=8&quot;))&#10;  B --- C((&quot;C=6&quot;))&#10;  C --- D((&quot;D=7&quot;))&#10;  A --- C&#10;  A --- D" id="425" name="Google Shape;425;p52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00" y="654075"/>
            <a:ext cx="4203988" cy="164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 LR&#10;  A((&quot;A=5&quot;)) --- S_AB1((&quot;S_AB¹&quot;))&#10;  S_AB1 --- S_AB2((&quot;S_AB²&quot;))&#10;  S_AB2 --- S_AB3((&quot;S_AB³&quot;))&#10;  S_AB3 --- S_AB4((&quot;S_AB⁴&quot;))&#10;  S_AB4 --- B((&quot;B=8&quot;))&#10;&#10;  B --- S_BC1((&quot;S_BC¹&quot;))&#10;  S_BC1 --- S_BC2((&quot;S_BC²&quot;))&#10;  S_BC2 --- S_BC3((&quot;S_BC³&quot;))&#10;  S_BC3 --- S_BC4((&quot;S_BC⁴&quot;))&#10;  S_BC4 --- C((&quot;C=6&quot;))&#10;&#10;  C --- S_CD1((&quot;S_CD¹&quot;))&#10;  S_CD1 --- S_CD2((&quot;S_CD²&quot;))&#10;  S_CD2 --- S_CD3((&quot;S_CD³&quot;))&#10;  S_CD3 --- S_CD4((&quot;S_CD⁴&quot;))&#10;  S_CD4 --- D((&quot;D=7&quot;))&#10;&#10;  A --- S_AC1((&quot;S_AC¹&quot;))&#10;  S_AC1 --- S_AC2((&quot;S_AC²&quot;))&#10;  S_AC2 --- S_AC3((&quot;S_AC³&quot;))&#10;  S_AC3 --- S_AC4((&quot;S_AC⁴&quot;))&#10;  S_AC4 --- C((&quot;C=6&quot;))&#10;&#10;  A --- S_AD1((&quot;S_AD¹&quot;))&#10;  S_AD1 --- S_AD2((&quot;S_AD²&quot;))&#10;  S_AD2 --- S_AD3((&quot;S_AD³&quot;))&#10;  S_AD3 --- S_AD4((&quot;S_AD⁴&quot;))&#10;  S_AD4 --- D((&quot;D=7&quot;))&#10;" id="426" name="Google Shape;426;p52" title="mermaid-graph/defaul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00" y="2736100"/>
            <a:ext cx="8882200" cy="17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/>
        </p:nvSpPr>
        <p:spPr>
          <a:xfrm>
            <a:off x="2098950" y="124675"/>
            <a:ext cx="49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x-subdivisions of biconnected outerplanar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A((&quot;A=5&quot;)) --- S_AB1((&quot;S_AB¹&quot;))&#10;  S_AB1 --- S_AB2((&quot;S_AB²&quot;))&#10;  &#10;  A --- S_AC1((&quot;S_AC¹&quot;))&#10;  S_AC1 --- S_AC2((&quot;S_AC²&quot;))&#10;  S_AC2 --- S_AC3((&quot;S_AC³&quot;))&#10;  S_AC3 --- S_AC4((&quot;S_AC⁴&quot;))&#10;  S_AC4 --- C((&quot;C=6&quot;))&#10;  &#10;&#10;  C --- S_CD1((&quot;S_CD¹&quot;))&#10;  S_CD1 --- S_CD2((&quot;S_CD²&quot;))&#10;  S_CD2 --- S_CD3((&quot;S_CD³&quot;))&#10;  S_CD3 --- S_CD4((&quot;S_CD⁴&quot;))&#10;  S_CD4 --- D((&quot;D=7&quot;))&#10;&#10;  &#10;&#10;  A --- S_AD1((&quot;S_AD¹&quot;))&#10;  S_AD1 --- S_AD2((&quot;S_AD²&quot;))&#10;  S_AD2 --- S_AD3((&quot;S_AD³&quot;))&#10;  S_AD3 --- S_AD4((&quot;S_AD⁴&quot;))&#10;  S_AD4 --- D((&quot;D=7&quot;))&#10;  &#10;  C((&quot;C=6&quot;)) --- S_BC4 &#10;  S_BC4((&quot;S_BC⁴&quot;)) --- S_BC3&#10;  S_BC3((&quot;S_BC³&quot;)) --- S_BC2&#10;  S_BC2((&quot;S_BC²&quot;)) --- S_BC1&#10;  S_BC1((&quot;S_BC¹&quot;)) --- B&#10;  &#10;  S_AB4((&quot;S_AB⁴&quot;)) --- S_AB3((&quot;S_AB³&quot;))&#10;  B((&quot;B=8&quot;)) --- S_AB4&#10;" id="432" name="Google Shape;432;p53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678" y="2736100"/>
            <a:ext cx="7277428" cy="195007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3"/>
          <p:cNvSpPr txBox="1"/>
          <p:nvPr/>
        </p:nvSpPr>
        <p:spPr>
          <a:xfrm>
            <a:off x="1219050" y="1120725"/>
            <a:ext cx="73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Break outer cycle A-&gt;B-&gt;C-&gt;D-&gt;A at minimum edge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(S_AB², S_AB³)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/>
        </p:nvSpPr>
        <p:spPr>
          <a:xfrm>
            <a:off x="2098950" y="124675"/>
            <a:ext cx="49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x-subdivisions of biconnected outerplanar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graph LR&#10;  A((&quot;A=5&quot;)) --- S_AB1((&quot;S_AB¹&quot;))&#10;  S_AB1 --- S_AB2((&quot;S_AB²&quot;))&#10;  &#10;  A --- S_AC1((&quot;S_AC¹&quot;))&#10;  S_AC1 --- S_AC2((&quot;S_AC²&quot;))&#10;  S_AC3((&quot;S_AC³&quot;)) --- S_AC4((&quot;S_AC⁴&quot;))&#10;  S_AC4 --- C((&quot;C=6&quot;))&#10;  &#10;&#10;  C --- S_CD1((&quot;S_CD¹&quot;))&#10;  S_CD1 --- S_CD2((&quot;S_CD²&quot;))&#10;  S_CD2 --- S_CD3((&quot;S_CD³&quot;))&#10;  S_CD3 --- S_CD4((&quot;S_CD⁴&quot;))&#10;  S_CD4 --- D((&quot;D=7&quot;))&#10;&#10;  &#10;&#10;  A --- S_AD1((&quot;S_AD¹&quot;))&#10;  S_AD1 --- S_AD2((&quot;S_AD²&quot;))&#10;  S_AD2 --- S_AD3((&quot;S_AD³&quot;))&#10;  S_AD3 --- S_AD4((&quot;S_AD⁴&quot;))&#10;  S_AD4 --- D((&quot;D=7&quot;))&#10;  &#10;  C((&quot;C=6&quot;)) --- S_BC4 &#10;  S_BC4((&quot;S_BC⁴&quot;)) --- S_BC3&#10;  S_BC3((&quot;S_BC³&quot;)) --- S_BC2&#10;  S_BC2((&quot;S_BC²&quot;)) --- S_BC1&#10;  S_BC1((&quot;S_BC¹&quot;)) --- B&#10;  &#10;  S_AB4((&quot;S_AB⁴&quot;)) --- S_AB3((&quot;S_AB³&quot;))&#10;  B((&quot;B=8&quot;)) --- S_AB4&#10;" id="439" name="Google Shape;439;p54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50" y="1234675"/>
            <a:ext cx="7539376" cy="37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4"/>
          <p:cNvSpPr txBox="1"/>
          <p:nvPr/>
        </p:nvSpPr>
        <p:spPr>
          <a:xfrm>
            <a:off x="1077825" y="835763"/>
            <a:ext cx="73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Break Chord chain A-&gt;C-&gt;D-&gt;A at minimum edge (S_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AC², S_AC³)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/>
        </p:nvSpPr>
        <p:spPr>
          <a:xfrm>
            <a:off x="312250" y="2116775"/>
            <a:ext cx="820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Find Hamiltonian cycle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Break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Hamiltonian cycle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Continue creating spanning tree like x-subdivisions of biconnected outerplanar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46" name="Google Shape;446;p55"/>
          <p:cNvSpPr txBox="1"/>
          <p:nvPr/>
        </p:nvSpPr>
        <p:spPr>
          <a:xfrm>
            <a:off x="2098950" y="124675"/>
            <a:ext cx="453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x-subdivisions of </a:t>
            </a: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4-connected planar graphs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75" y="720700"/>
            <a:ext cx="8839199" cy="410743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6"/>
          <p:cNvSpPr txBox="1"/>
          <p:nvPr/>
        </p:nvSpPr>
        <p:spPr>
          <a:xfrm>
            <a:off x="3411450" y="176075"/>
            <a:ext cx="23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Experimental results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7"/>
          <p:cNvSpPr txBox="1"/>
          <p:nvPr/>
        </p:nvSpPr>
        <p:spPr>
          <a:xfrm>
            <a:off x="3412500" y="2248500"/>
            <a:ext cx="23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Thank you</a:t>
            </a:r>
            <a:endParaRPr sz="30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000000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